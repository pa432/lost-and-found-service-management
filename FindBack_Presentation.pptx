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 id="{4A7A338E-D15B-5AEB-6168-000367393741}">
          <p14:sldIdLst>
            <p14:sldId id="256"/>
            <p14:sldId id="257"/>
          </p14:sldIdLst>
        </p14:section>
        <p14:section name="Problem and solution" id="{0D6A16E0-E6FA-E9D4-D45F-CD89F59A92E7}">
          <p14:sldIdLst>
            <p14:sldId id="258"/>
            <p14:sldId id="259"/>
          </p14:sldIdLst>
        </p14:section>
        <p14:section name="Design" id="{E7936894-DABA-2133-2E98-AB7FB60F112A}">
          <p14:sldIdLst>
            <p14:sldId id="260"/>
            <p14:sldId id="261"/>
            <p14:sldId id="262"/>
            <p14:sldId id="263"/>
          </p14:sldIdLst>
        </p14:section>
        <p14:section name="Deep dive" id="{E800DA19-F5D5-8F82-AA95-07A87298C16F}">
          <p14:sldIdLst>
            <p14:sldId id="264"/>
            <p14:sldId id="265"/>
          </p14:sldIdLst>
        </p14:section>
        <p14:section name="Lessons" id="{AFE09150-83CB-76FD-8F5D-548A218B8DDD}">
          <p14:sldIdLst>
            <p14:sldId id="266"/>
            <p14:sldId id="267"/>
          </p14:sldIdLst>
        </p14:section>
        <p14:section name="Wrap-up" id="{E44CD2DF-B1DF-D25B-A5BF-8EE2845B1882}">
          <p14:sldIdLst>
            <p14:sldId id="268"/>
            <p14:sldId id="269"/>
            <p14:sldId id="27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50" d="100"/>
          <a:sy n="150" d="100"/>
        </p:scale>
        <p:origin x="474" y="11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99922596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 everyone, I'm [Name]. Today I'll walk you through FindBack, a full-stack web app that uses AI to match lost items with found items automatically. I'll cover the problem, how it works, and what I learned while building it.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roadmap. I'll start with why this matters, then move into the technical design, with a deeper look at the AI pipeline, and finish with a demo and future plans.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Everyone has lost something on campus or in transit. Finders post on WhatsApp or a notice board, and owners search with different words and never connect. There's also no way to verify ownership. That's the gap we're filling.</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FindBack lets users report items, then uses AI to understand what the items mean rather than just matching keywords. Claims are verified by the item's owner, and everyone is notified in real time.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chose a TypeScript-everywhere stack for type safety across the client and server. The AI layer runs inside Supabase, so there are no external API keys or local model hosting.</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React app talks to Express over REST. Express uses Prisma for normal queries, calls an Edge Function for embeddings, and pushes live events over Socket.IO. Keeping vectors in Postgres means one database serves everything.</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Users sign up, report an item with as much detail as they like, and attach a photo. The browse page supports search and filtering so people can also look manually.</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Location matters a lot for lost items, so maps are built in. The claims and notification features turn it from a listing board into a complete workflow, and admins can moderate everything.</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you post 'black leather wallet,' the model converts the text into a vector that captures its meaning. We compare it to vectors of found items, so 'dark billfold with cards' can still match. The score is shown as a confidence percentage.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prevent false claims, claimants must describe something only the real owner would know. The owner decides, and approving closes the case and cleans up competing claims automatically.</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 of the learning came from infrastructure surprises rather than the AI itself. The biggest lesson is that depending on free third-party APIs is fragile, so owning the inference path made the system more reliable.</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I did this again, I'd evaluate the AI hosting path first. These lessons apply to almost any project that mixes ORMs, AI, and managed services.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show the flow: I report a lost item, the AI surfaces a match, I submit a claim, and the owner gets a live notification and approves it.</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Text matching is just the start. Adding image embeddings would let the system match photos directly, and notifications beyond the browser would reach people who aren't online.</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Thanks for listening. I'm happy to take questions or show any part of the code or demo in more detail.</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chemeClr val="tx2"/>
          </a:solidFill>
          <a:ln/>
        </p:spPr>
      </p:sp>
      <p:sp>
        <p:nvSpPr>
          <p:cNvPr id="3" name="Text 1"/>
          <p:cNvSpPr>
            <a:spLocks noGrp="1"/>
          </p:cNvSpPr>
          <p:nvPr>
            <p:ph type="title" idx="101" hasCustomPrompt="1"/>
          </p:nvPr>
        </p:nvSpPr>
        <p:spPr>
          <a:xfrm>
            <a:off x="640080" y="1188720"/>
            <a:ext cx="5303520" cy="1280160"/>
          </a:xfrm>
          <a:prstGeom prst="rect">
            <a:avLst/>
          </a:prstGeom>
          <a:noFill/>
          <a:ln/>
        </p:spPr>
        <p:txBody>
          <a:bodyPr wrap="square" rtlCol="0"/>
          <a:lstStyle>
            <a:lvl1pPr marL="0" indent="0" algn="l">
              <a:buNone/>
              <a:defRPr lang="en-US" sz="6000" b="1" dirty="0">
                <a:solidFill>
                  <a:schemeClr val="bg1"/>
                </a:solidFill>
              </a:defRPr>
            </a:lvl1pPr>
          </a:lstStyle>
          <a:p>
            <a:pPr marL="0" indent="0" algn="l">
              <a:buNone/>
            </a:pPr>
            <a:endParaRPr lang="en-US" sz="6000" dirty="0"/>
          </a:p>
        </p:txBody>
      </p:sp>
      <p:sp>
        <p:nvSpPr>
          <p:cNvPr id="4" name="Text 1"/>
          <p:cNvSpPr>
            <a:spLocks noGrp="1"/>
          </p:cNvSpPr>
          <p:nvPr>
            <p:ph type="body" idx="102" hasCustomPrompt="1"/>
          </p:nvPr>
        </p:nvSpPr>
        <p:spPr>
          <a:xfrm>
            <a:off x="640080" y="2651760"/>
            <a:ext cx="5120640" cy="1097280"/>
          </a:xfrm>
          <a:prstGeom prst="rect">
            <a:avLst/>
          </a:prstGeom>
          <a:noFill/>
          <a:ln/>
        </p:spPr>
        <p:txBody>
          <a:bodyPr wrap="square" rtlCol="0"/>
          <a:lstStyle>
            <a:lvl1pPr marL="0" indent="0" algn="l">
              <a:buNone/>
              <a:defRPr lang="en-US" sz="2000" dirty="0">
                <a:solidFill>
                  <a:schemeClr val="accent2"/>
                </a:solidFill>
              </a:defRPr>
            </a:lvl1pPr>
          </a:lstStyle>
          <a:p>
            <a:pPr marL="0" indent="0" algn="l">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320040"/>
            <a:ext cx="8229600" cy="731520"/>
          </a:xfrm>
          <a:prstGeom prst="rect">
            <a:avLst/>
          </a:prstGeom>
          <a:noFill/>
          <a:ln/>
        </p:spPr>
        <p:txBody>
          <a:bodyPr wrap="square" rtlCol="0"/>
          <a:lstStyle>
            <a:lvl1pPr marL="0" indent="0" algn="l">
              <a:buNone/>
              <a:defRPr lang="en-US" sz="3400" b="1" dirty="0">
                <a:solidFill>
                  <a:schemeClr val="tx2"/>
                </a:solidFill>
              </a:defRPr>
            </a:lvl1pPr>
          </a:lstStyle>
          <a:p>
            <a:pPr marL="0" indent="0" algn="l">
              <a:buNone/>
            </a:pPr>
            <a:endParaRPr lang="en-US" sz="3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_DARK">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chemeClr val="tx2"/>
          </a:solidFill>
          <a:ln/>
        </p:spPr>
      </p:sp>
      <p:sp>
        <p:nvSpPr>
          <p:cNvPr id="3" name="Text 1"/>
          <p:cNvSpPr>
            <a:spLocks noGrp="1"/>
          </p:cNvSpPr>
          <p:nvPr>
            <p:ph type="title" idx="101" hasCustomPrompt="1"/>
          </p:nvPr>
        </p:nvSpPr>
        <p:spPr>
          <a:xfrm>
            <a:off x="457200" y="320040"/>
            <a:ext cx="8229600" cy="731520"/>
          </a:xfrm>
          <a:prstGeom prst="rect">
            <a:avLst/>
          </a:prstGeom>
          <a:noFill/>
          <a:ln/>
        </p:spPr>
        <p:txBody>
          <a:bodyPr wrap="square" rtlCol="0"/>
          <a:lstStyle>
            <a:lvl1pPr marL="0" indent="0" algn="l">
              <a:buNone/>
              <a:defRPr lang="en-US" sz="3400" b="1" dirty="0">
                <a:solidFill>
                  <a:schemeClr val="bg1"/>
                </a:solidFill>
              </a:defRPr>
            </a:lvl1pPr>
          </a:lstStyle>
          <a:p>
            <a:pPr marL="0" indent="0" algn="l">
              <a:buNone/>
            </a:pPr>
            <a:endParaRPr lang="en-US" sz="3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bg2"/>
                </a:solidFil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3.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3.xml"/><Relationship Id="rId6" Type="http://schemas.openxmlformats.org/officeDocument/2006/relationships/image" Target="../media/image5.png"/><Relationship Id="rId5" Type="http://schemas.openxmlformats.org/officeDocument/2006/relationships/image" Target="../media/image8.png"/><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3.xml"/><Relationship Id="rId6" Type="http://schemas.openxmlformats.org/officeDocument/2006/relationships/image" Target="../media/image10.png"/><Relationship Id="rId5" Type="http://schemas.openxmlformats.org/officeDocument/2006/relationships/image" Target="../media/image6.png"/><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3.xml"/><Relationship Id="rId6" Type="http://schemas.openxmlformats.org/officeDocument/2006/relationships/image" Target="../media/image4.png"/><Relationship Id="rId5" Type="http://schemas.openxmlformats.org/officeDocument/2006/relationships/image" Target="../media/image5.png"/><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image" Target="../media/image13.png"/><Relationship Id="rId2" Type="http://schemas.openxmlformats.org/officeDocument/2006/relationships/notesSlide" Target="../notesSlides/notesSlide10.xml"/><Relationship Id="rId1" Type="http://schemas.openxmlformats.org/officeDocument/2006/relationships/slideLayout" Target="../slideLayouts/slideLayout3.xml"/><Relationship Id="rId6" Type="http://schemas.openxmlformats.org/officeDocument/2006/relationships/image" Target="../media/image12.png"/><Relationship Id="rId5" Type="http://schemas.openxmlformats.org/officeDocument/2006/relationships/image" Target="../media/image2.png"/><Relationship Id="rId4" Type="http://schemas.openxmlformats.org/officeDocument/2006/relationships/image" Target="../media/image5.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2.xml"/><Relationship Id="rId1" Type="http://schemas.openxmlformats.org/officeDocument/2006/relationships/slideLayout" Target="../slideLayouts/slideLayout4.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1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19.png"/><Relationship Id="rId7" Type="http://schemas.openxmlformats.org/officeDocument/2006/relationships/image" Target="../media/image23.png"/><Relationship Id="rId2" Type="http://schemas.openxmlformats.org/officeDocument/2006/relationships/notesSlide" Target="../notesSlides/notesSlide14.xml"/><Relationship Id="rId1" Type="http://schemas.openxmlformats.org/officeDocument/2006/relationships/slideLayout" Target="../slideLayouts/slideLayout3.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s>
</file>

<file path=ppt/slides/_rels/slide15.xml.rels><?xml version="1.0" encoding="UTF-8" standalone="yes"?>
<Relationships xmlns="http://schemas.openxmlformats.org/package/2006/relationships"><Relationship Id="rId3" Type="http://schemas.openxmlformats.org/officeDocument/2006/relationships/hyperlink" Target="https://github.com/pa432/Lost-and-Found-Service-Management" TargetMode="External"/><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640080" y="1188720"/>
            <a:ext cx="5303520" cy="1280160"/>
          </a:xfrm>
          <a:prstGeom prst="rect">
            <a:avLst/>
          </a:prstGeom>
          <a:noFill/>
          <a:ln/>
        </p:spPr>
        <p:txBody>
          <a:bodyPr wrap="square" lIns="0" tIns="0" rIns="0" bIns="0" rtlCol="0" anchor="b"/>
          <a:lstStyle/>
          <a:p>
            <a:pPr marL="0" indent="0" algn="l">
              <a:buNone/>
            </a:pPr>
            <a:r>
              <a:rPr lang="en-US" sz="6000" b="1" dirty="0">
                <a:solidFill>
                  <a:schemeClr val="bg1"/>
                </a:solidFill>
              </a:rPr>
              <a:t>FindBack</a:t>
            </a:r>
            <a:endParaRPr lang="en-US" sz="6000" dirty="0"/>
          </a:p>
        </p:txBody>
      </p:sp>
      <p:sp>
        <p:nvSpPr>
          <p:cNvPr id="3" name="Text 1"/>
          <p:cNvSpPr>
            <a:spLocks noGrp="1"/>
          </p:cNvSpPr>
          <p:nvPr>
            <p:ph type="body" idx="102" hasCustomPrompt="1"/>
          </p:nvPr>
        </p:nvSpPr>
        <p:spPr>
          <a:xfrm>
            <a:off x="640080" y="2651760"/>
            <a:ext cx="5120640" cy="1097280"/>
          </a:xfrm>
          <a:prstGeom prst="rect">
            <a:avLst/>
          </a:prstGeom>
          <a:noFill/>
          <a:ln/>
        </p:spPr>
        <p:txBody>
          <a:bodyPr wrap="square" lIns="0" tIns="0" rIns="0" bIns="0" rtlCol="0" anchor="t"/>
          <a:lstStyle/>
          <a:p>
            <a:pPr marL="0" indent="0" algn="l">
              <a:buNone/>
            </a:pPr>
            <a:r>
              <a:rPr lang="en-US" sz="2000" dirty="0">
                <a:solidFill>
                  <a:schemeClr val="accent2"/>
                </a:solidFill>
              </a:rPr>
              <a:t>AI-powered lost &amp; found: reuniting people with their belongings through semantic matching</a:t>
            </a:r>
            <a:endParaRPr lang="en-US" sz="2000" dirty="0"/>
          </a:p>
        </p:txBody>
      </p:sp>
      <p:sp>
        <p:nvSpPr>
          <p:cNvPr id="4" name="Text 2"/>
          <p:cNvSpPr txBox="1"/>
          <p:nvPr/>
        </p:nvSpPr>
        <p:spPr>
          <a:xfrm>
            <a:off x="640080" y="4023360"/>
            <a:ext cx="5029200" cy="320040"/>
          </a:xfrm>
          <a:prstGeom prst="rect">
            <a:avLst/>
          </a:prstGeom>
          <a:noFill/>
          <a:ln/>
        </p:spPr>
        <p:txBody>
          <a:bodyPr wrap="square" lIns="0" tIns="0" rIns="0" bIns="0" rtlCol="0" anchor="t"/>
          <a:lstStyle/>
          <a:p>
            <a:pPr marL="0" indent="0" algn="l">
              <a:buNone/>
            </a:pPr>
            <a:r>
              <a:rPr lang="en-US" sz="1600" b="1" dirty="0">
                <a:solidFill>
                  <a:schemeClr val="bg1"/>
                </a:solidFill>
              </a:rPr>
              <a:t>[Lucky Adhikari]  |  [Date]</a:t>
            </a:r>
            <a:endParaRPr lang="en-US" sz="1600" dirty="0"/>
          </a:p>
        </p:txBody>
      </p:sp>
      <p:sp>
        <p:nvSpPr>
          <p:cNvPr id="5" name="Text 3"/>
          <p:cNvSpPr txBox="1"/>
          <p:nvPr/>
        </p:nvSpPr>
        <p:spPr>
          <a:xfrm>
            <a:off x="640080" y="4389120"/>
            <a:ext cx="5029200" cy="274320"/>
          </a:xfrm>
          <a:prstGeom prst="rect">
            <a:avLst/>
          </a:prstGeom>
          <a:noFill/>
          <a:ln/>
        </p:spPr>
        <p:txBody>
          <a:bodyPr wrap="square" lIns="0" tIns="0" rIns="0" bIns="0" rtlCol="0" anchor="t"/>
          <a:lstStyle/>
          <a:p>
            <a:pPr marL="0" indent="0" algn="l">
              <a:buNone/>
            </a:pPr>
            <a:r>
              <a:rPr lang="en-US" sz="1400" dirty="0">
                <a:solidFill>
                  <a:schemeClr val="bg2"/>
                </a:solidFill>
              </a:rPr>
              <a:t>[SAGE University / </a:t>
            </a:r>
            <a:r>
              <a:rPr lang="en-US" sz="1400" dirty="0" err="1">
                <a:solidFill>
                  <a:schemeClr val="bg2"/>
                </a:solidFill>
              </a:rPr>
              <a:t>B.tech</a:t>
            </a:r>
            <a:r>
              <a:rPr lang="en-US" sz="1400" dirty="0">
                <a:solidFill>
                  <a:schemeClr val="bg2"/>
                </a:solidFill>
              </a:rPr>
              <a:t> AIML /Project]</a:t>
            </a:r>
            <a:endParaRPr lang="en-US" sz="1400" dirty="0"/>
          </a:p>
        </p:txBody>
      </p:sp>
      <p:sp>
        <p:nvSpPr>
          <p:cNvPr id="6" name="Halo"/>
          <p:cNvSpPr/>
          <p:nvPr/>
        </p:nvSpPr>
        <p:spPr>
          <a:xfrm>
            <a:off x="6126480" y="1097280"/>
            <a:ext cx="2743200" cy="2743200"/>
          </a:xfrm>
          <a:prstGeom prst="ellipse">
            <a:avLst/>
          </a:prstGeom>
          <a:solidFill>
            <a:schemeClr val="bg1">
              <a:alpha val="10000"/>
            </a:schemeClr>
          </a:solidFill>
          <a:ln/>
        </p:spPr>
      </p:sp>
      <p:sp>
        <p:nvSpPr>
          <p:cNvPr id="7" name="Icon circle FaSearch"/>
          <p:cNvSpPr/>
          <p:nvPr/>
        </p:nvSpPr>
        <p:spPr>
          <a:xfrm>
            <a:off x="6583680" y="1554480"/>
            <a:ext cx="1828800" cy="1828800"/>
          </a:xfrm>
          <a:prstGeom prst="ellipse">
            <a:avLst/>
          </a:prstGeom>
          <a:solidFill>
            <a:schemeClr val="accent2"/>
          </a:solidFill>
          <a:ln/>
        </p:spPr>
      </p:sp>
      <p:pic>
        <p:nvPicPr>
          <p:cNvPr id="8" name="Image 0" descr="Search icon"/>
          <p:cNvPicPr>
            <a:picLocks noChangeAspect="1"/>
          </p:cNvPicPr>
          <p:nvPr/>
        </p:nvPicPr>
        <p:blipFill>
          <a:blip r:embed="rId3"/>
          <a:stretch>
            <a:fillRect/>
          </a:stretch>
        </p:blipFill>
        <p:spPr>
          <a:xfrm>
            <a:off x="7040880" y="2011680"/>
            <a:ext cx="914400" cy="9144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320040"/>
            <a:ext cx="8229600" cy="731520"/>
          </a:xfrm>
          <a:prstGeom prst="rect">
            <a:avLst/>
          </a:prstGeom>
          <a:noFill/>
          <a:ln/>
        </p:spPr>
        <p:txBody>
          <a:bodyPr wrap="square" lIns="0" tIns="0" rIns="0" bIns="0" rtlCol="0" anchor="ctr"/>
          <a:lstStyle/>
          <a:p>
            <a:pPr marL="0" indent="0" algn="l">
              <a:buNone/>
            </a:pPr>
            <a:r>
              <a:rPr lang="en-US" sz="3400" b="1" dirty="0">
                <a:solidFill>
                  <a:schemeClr val="tx2"/>
                </a:solidFill>
              </a:rPr>
              <a:t>Agenda</a:t>
            </a:r>
            <a:endParaRPr lang="en-US" sz="3400" dirty="0"/>
          </a:p>
        </p:txBody>
      </p:sp>
      <p:sp>
        <p:nvSpPr>
          <p:cNvPr id="4" name="Shape 1"/>
          <p:cNvSpPr/>
          <p:nvPr/>
        </p:nvSpPr>
        <p:spPr>
          <a:xfrm>
            <a:off x="457200" y="1280160"/>
            <a:ext cx="4023360" cy="685800"/>
          </a:xfrm>
          <a:prstGeom prst="roundRect">
            <a:avLst>
              <a:gd name="adj" fmla="val 10667"/>
            </a:avLst>
          </a:prstGeom>
          <a:solidFill>
            <a:schemeClr val="bg2"/>
          </a:solidFill>
          <a:ln/>
        </p:spPr>
      </p:sp>
      <p:sp>
        <p:nvSpPr>
          <p:cNvPr id="5" name="Number 1"/>
          <p:cNvSpPr/>
          <p:nvPr/>
        </p:nvSpPr>
        <p:spPr>
          <a:xfrm>
            <a:off x="594360" y="1394460"/>
            <a:ext cx="457200" cy="457200"/>
          </a:xfrm>
          <a:prstGeom prst="ellipse">
            <a:avLst/>
          </a:prstGeom>
          <a:solidFill>
            <a:schemeClr val="tx2"/>
          </a:solidFill>
          <a:ln/>
        </p:spPr>
      </p:sp>
      <p:sp>
        <p:nvSpPr>
          <p:cNvPr id="6" name="Text 3"/>
          <p:cNvSpPr txBox="1"/>
          <p:nvPr/>
        </p:nvSpPr>
        <p:spPr>
          <a:xfrm>
            <a:off x="594360" y="1394460"/>
            <a:ext cx="457200" cy="457200"/>
          </a:xfrm>
          <a:prstGeom prst="rect">
            <a:avLst/>
          </a:prstGeom>
          <a:noFill/>
          <a:ln/>
        </p:spPr>
        <p:txBody>
          <a:bodyPr wrap="square" lIns="0" tIns="0" rIns="0" bIns="0" rtlCol="0" anchor="ctr"/>
          <a:lstStyle/>
          <a:p>
            <a:pPr marL="0" indent="0" algn="ctr">
              <a:buNone/>
            </a:pPr>
            <a:r>
              <a:rPr lang="en-US" sz="1600" b="1" dirty="0">
                <a:solidFill>
                  <a:schemeClr val="bg1"/>
                </a:solidFill>
              </a:rPr>
              <a:t>1</a:t>
            </a:r>
            <a:endParaRPr lang="en-US" sz="1600" dirty="0"/>
          </a:p>
        </p:txBody>
      </p:sp>
      <p:sp>
        <p:nvSpPr>
          <p:cNvPr id="7" name="Text 4"/>
          <p:cNvSpPr txBox="1"/>
          <p:nvPr/>
        </p:nvSpPr>
        <p:spPr>
          <a:xfrm>
            <a:off x="1234440" y="1280160"/>
            <a:ext cx="3108960" cy="685800"/>
          </a:xfrm>
          <a:prstGeom prst="rect">
            <a:avLst/>
          </a:prstGeom>
          <a:noFill/>
          <a:ln/>
        </p:spPr>
        <p:txBody>
          <a:bodyPr wrap="square" lIns="0" tIns="0" rIns="0" bIns="0" rtlCol="0" anchor="ctr"/>
          <a:lstStyle/>
          <a:p>
            <a:pPr marL="0" indent="0" algn="l">
              <a:buNone/>
            </a:pPr>
            <a:r>
              <a:rPr lang="en-US" sz="1600" dirty="0">
                <a:solidFill>
                  <a:schemeClr val="tx1"/>
                </a:solidFill>
              </a:rPr>
              <a:t>The problem</a:t>
            </a:r>
            <a:endParaRPr lang="en-US" sz="1600" dirty="0"/>
          </a:p>
        </p:txBody>
      </p:sp>
      <p:sp>
        <p:nvSpPr>
          <p:cNvPr id="8" name="Shape 5"/>
          <p:cNvSpPr/>
          <p:nvPr/>
        </p:nvSpPr>
        <p:spPr>
          <a:xfrm>
            <a:off x="457200" y="2103120"/>
            <a:ext cx="4023360" cy="685800"/>
          </a:xfrm>
          <a:prstGeom prst="roundRect">
            <a:avLst>
              <a:gd name="adj" fmla="val 10667"/>
            </a:avLst>
          </a:prstGeom>
          <a:solidFill>
            <a:schemeClr val="bg2"/>
          </a:solidFill>
          <a:ln/>
        </p:spPr>
      </p:sp>
      <p:sp>
        <p:nvSpPr>
          <p:cNvPr id="9" name="Number 2"/>
          <p:cNvSpPr/>
          <p:nvPr/>
        </p:nvSpPr>
        <p:spPr>
          <a:xfrm>
            <a:off x="594360" y="2217420"/>
            <a:ext cx="457200" cy="457200"/>
          </a:xfrm>
          <a:prstGeom prst="ellipse">
            <a:avLst/>
          </a:prstGeom>
          <a:solidFill>
            <a:schemeClr val="accent1"/>
          </a:solidFill>
          <a:ln/>
        </p:spPr>
      </p:sp>
      <p:sp>
        <p:nvSpPr>
          <p:cNvPr id="10" name="Text 7"/>
          <p:cNvSpPr txBox="1"/>
          <p:nvPr/>
        </p:nvSpPr>
        <p:spPr>
          <a:xfrm>
            <a:off x="594360" y="2217420"/>
            <a:ext cx="457200" cy="457200"/>
          </a:xfrm>
          <a:prstGeom prst="rect">
            <a:avLst/>
          </a:prstGeom>
          <a:noFill/>
          <a:ln/>
        </p:spPr>
        <p:txBody>
          <a:bodyPr wrap="square" lIns="0" tIns="0" rIns="0" bIns="0" rtlCol="0" anchor="ctr"/>
          <a:lstStyle/>
          <a:p>
            <a:pPr marL="0" indent="0" algn="ctr">
              <a:buNone/>
            </a:pPr>
            <a:r>
              <a:rPr lang="en-US" sz="1600" b="1" dirty="0">
                <a:solidFill>
                  <a:schemeClr val="bg1"/>
                </a:solidFill>
              </a:rPr>
              <a:t>2</a:t>
            </a:r>
            <a:endParaRPr lang="en-US" sz="1600" dirty="0"/>
          </a:p>
        </p:txBody>
      </p:sp>
      <p:sp>
        <p:nvSpPr>
          <p:cNvPr id="11" name="Text 8"/>
          <p:cNvSpPr txBox="1"/>
          <p:nvPr/>
        </p:nvSpPr>
        <p:spPr>
          <a:xfrm>
            <a:off x="1234440" y="2103120"/>
            <a:ext cx="3108960" cy="685800"/>
          </a:xfrm>
          <a:prstGeom prst="rect">
            <a:avLst/>
          </a:prstGeom>
          <a:noFill/>
          <a:ln/>
        </p:spPr>
        <p:txBody>
          <a:bodyPr wrap="square" lIns="0" tIns="0" rIns="0" bIns="0" rtlCol="0" anchor="ctr"/>
          <a:lstStyle/>
          <a:p>
            <a:pPr marL="0" indent="0" algn="l">
              <a:buNone/>
            </a:pPr>
            <a:r>
              <a:rPr lang="en-US" sz="1600" dirty="0">
                <a:solidFill>
                  <a:schemeClr val="tx1"/>
                </a:solidFill>
              </a:rPr>
              <a:t>Our solution</a:t>
            </a:r>
            <a:endParaRPr lang="en-US" sz="1600" dirty="0"/>
          </a:p>
        </p:txBody>
      </p:sp>
      <p:sp>
        <p:nvSpPr>
          <p:cNvPr id="12" name="Shape 9"/>
          <p:cNvSpPr/>
          <p:nvPr/>
        </p:nvSpPr>
        <p:spPr>
          <a:xfrm>
            <a:off x="457200" y="2926080"/>
            <a:ext cx="4023360" cy="685800"/>
          </a:xfrm>
          <a:prstGeom prst="roundRect">
            <a:avLst>
              <a:gd name="adj" fmla="val 10667"/>
            </a:avLst>
          </a:prstGeom>
          <a:solidFill>
            <a:schemeClr val="bg2"/>
          </a:solidFill>
          <a:ln/>
        </p:spPr>
      </p:sp>
      <p:sp>
        <p:nvSpPr>
          <p:cNvPr id="13" name="Number 3"/>
          <p:cNvSpPr/>
          <p:nvPr/>
        </p:nvSpPr>
        <p:spPr>
          <a:xfrm>
            <a:off x="594360" y="3040380"/>
            <a:ext cx="457200" cy="457200"/>
          </a:xfrm>
          <a:prstGeom prst="ellipse">
            <a:avLst/>
          </a:prstGeom>
          <a:solidFill>
            <a:schemeClr val="tx2"/>
          </a:solidFill>
          <a:ln/>
        </p:spPr>
      </p:sp>
      <p:sp>
        <p:nvSpPr>
          <p:cNvPr id="14" name="Text 11"/>
          <p:cNvSpPr txBox="1"/>
          <p:nvPr/>
        </p:nvSpPr>
        <p:spPr>
          <a:xfrm>
            <a:off x="594360" y="3040380"/>
            <a:ext cx="457200" cy="457200"/>
          </a:xfrm>
          <a:prstGeom prst="rect">
            <a:avLst/>
          </a:prstGeom>
          <a:noFill/>
          <a:ln/>
        </p:spPr>
        <p:txBody>
          <a:bodyPr wrap="square" lIns="0" tIns="0" rIns="0" bIns="0" rtlCol="0" anchor="ctr"/>
          <a:lstStyle/>
          <a:p>
            <a:pPr marL="0" indent="0" algn="ctr">
              <a:buNone/>
            </a:pPr>
            <a:r>
              <a:rPr lang="en-US" sz="1600" b="1" dirty="0">
                <a:solidFill>
                  <a:schemeClr val="bg1"/>
                </a:solidFill>
              </a:rPr>
              <a:t>3</a:t>
            </a:r>
            <a:endParaRPr lang="en-US" sz="1600" dirty="0"/>
          </a:p>
        </p:txBody>
      </p:sp>
      <p:sp>
        <p:nvSpPr>
          <p:cNvPr id="15" name="Text 12"/>
          <p:cNvSpPr txBox="1"/>
          <p:nvPr/>
        </p:nvSpPr>
        <p:spPr>
          <a:xfrm>
            <a:off x="1234440" y="2926080"/>
            <a:ext cx="3108960" cy="685800"/>
          </a:xfrm>
          <a:prstGeom prst="rect">
            <a:avLst/>
          </a:prstGeom>
          <a:noFill/>
          <a:ln/>
        </p:spPr>
        <p:txBody>
          <a:bodyPr wrap="square" lIns="0" tIns="0" rIns="0" bIns="0" rtlCol="0" anchor="ctr"/>
          <a:lstStyle/>
          <a:p>
            <a:pPr marL="0" indent="0" algn="l">
              <a:buNone/>
            </a:pPr>
            <a:r>
              <a:rPr lang="en-US" sz="1600" dirty="0">
                <a:solidFill>
                  <a:schemeClr val="tx1"/>
                </a:solidFill>
              </a:rPr>
              <a:t>Tech stack and architecture</a:t>
            </a:r>
            <a:endParaRPr lang="en-US" sz="1600" dirty="0"/>
          </a:p>
        </p:txBody>
      </p:sp>
      <p:sp>
        <p:nvSpPr>
          <p:cNvPr id="16" name="Shape 13"/>
          <p:cNvSpPr/>
          <p:nvPr/>
        </p:nvSpPr>
        <p:spPr>
          <a:xfrm>
            <a:off x="457200" y="3749040"/>
            <a:ext cx="4023360" cy="685800"/>
          </a:xfrm>
          <a:prstGeom prst="roundRect">
            <a:avLst>
              <a:gd name="adj" fmla="val 10667"/>
            </a:avLst>
          </a:prstGeom>
          <a:solidFill>
            <a:schemeClr val="bg2"/>
          </a:solidFill>
          <a:ln/>
        </p:spPr>
      </p:sp>
      <p:sp>
        <p:nvSpPr>
          <p:cNvPr id="17" name="Number 4"/>
          <p:cNvSpPr/>
          <p:nvPr/>
        </p:nvSpPr>
        <p:spPr>
          <a:xfrm>
            <a:off x="594360" y="3863340"/>
            <a:ext cx="457200" cy="457200"/>
          </a:xfrm>
          <a:prstGeom prst="ellipse">
            <a:avLst/>
          </a:prstGeom>
          <a:solidFill>
            <a:schemeClr val="accent1"/>
          </a:solidFill>
          <a:ln/>
        </p:spPr>
      </p:sp>
      <p:sp>
        <p:nvSpPr>
          <p:cNvPr id="18" name="Text 15"/>
          <p:cNvSpPr txBox="1"/>
          <p:nvPr/>
        </p:nvSpPr>
        <p:spPr>
          <a:xfrm>
            <a:off x="594360" y="3863340"/>
            <a:ext cx="457200" cy="457200"/>
          </a:xfrm>
          <a:prstGeom prst="rect">
            <a:avLst/>
          </a:prstGeom>
          <a:noFill/>
          <a:ln/>
        </p:spPr>
        <p:txBody>
          <a:bodyPr wrap="square" lIns="0" tIns="0" rIns="0" bIns="0" rtlCol="0" anchor="ctr"/>
          <a:lstStyle/>
          <a:p>
            <a:pPr marL="0" indent="0" algn="ctr">
              <a:buNone/>
            </a:pPr>
            <a:r>
              <a:rPr lang="en-US" sz="1600" b="1" dirty="0">
                <a:solidFill>
                  <a:schemeClr val="bg1"/>
                </a:solidFill>
              </a:rPr>
              <a:t>4</a:t>
            </a:r>
            <a:endParaRPr lang="en-US" sz="1600" dirty="0"/>
          </a:p>
        </p:txBody>
      </p:sp>
      <p:sp>
        <p:nvSpPr>
          <p:cNvPr id="19" name="Text 16"/>
          <p:cNvSpPr txBox="1"/>
          <p:nvPr/>
        </p:nvSpPr>
        <p:spPr>
          <a:xfrm>
            <a:off x="1234440" y="3749040"/>
            <a:ext cx="3108960" cy="685800"/>
          </a:xfrm>
          <a:prstGeom prst="rect">
            <a:avLst/>
          </a:prstGeom>
          <a:noFill/>
          <a:ln/>
        </p:spPr>
        <p:txBody>
          <a:bodyPr wrap="square" lIns="0" tIns="0" rIns="0" bIns="0" rtlCol="0" anchor="ctr"/>
          <a:lstStyle/>
          <a:p>
            <a:pPr marL="0" indent="0" algn="l">
              <a:buNone/>
            </a:pPr>
            <a:r>
              <a:rPr lang="en-US" sz="1600" dirty="0">
                <a:solidFill>
                  <a:schemeClr val="tx1"/>
                </a:solidFill>
              </a:rPr>
              <a:t>Features</a:t>
            </a:r>
            <a:endParaRPr lang="en-US" sz="1600" dirty="0"/>
          </a:p>
        </p:txBody>
      </p:sp>
      <p:sp>
        <p:nvSpPr>
          <p:cNvPr id="20" name="Shape 17"/>
          <p:cNvSpPr/>
          <p:nvPr/>
        </p:nvSpPr>
        <p:spPr>
          <a:xfrm>
            <a:off x="4663440" y="1280160"/>
            <a:ext cx="4023360" cy="685800"/>
          </a:xfrm>
          <a:prstGeom prst="roundRect">
            <a:avLst>
              <a:gd name="adj" fmla="val 10667"/>
            </a:avLst>
          </a:prstGeom>
          <a:solidFill>
            <a:schemeClr val="bg2"/>
          </a:solidFill>
          <a:ln/>
        </p:spPr>
      </p:sp>
      <p:sp>
        <p:nvSpPr>
          <p:cNvPr id="21" name="Number 5"/>
          <p:cNvSpPr/>
          <p:nvPr/>
        </p:nvSpPr>
        <p:spPr>
          <a:xfrm>
            <a:off x="4800600" y="1394460"/>
            <a:ext cx="457200" cy="457200"/>
          </a:xfrm>
          <a:prstGeom prst="ellipse">
            <a:avLst/>
          </a:prstGeom>
          <a:solidFill>
            <a:schemeClr val="tx2"/>
          </a:solidFill>
          <a:ln/>
        </p:spPr>
      </p:sp>
      <p:sp>
        <p:nvSpPr>
          <p:cNvPr id="22" name="Text 19"/>
          <p:cNvSpPr txBox="1"/>
          <p:nvPr/>
        </p:nvSpPr>
        <p:spPr>
          <a:xfrm>
            <a:off x="4800600" y="1394460"/>
            <a:ext cx="457200" cy="457200"/>
          </a:xfrm>
          <a:prstGeom prst="rect">
            <a:avLst/>
          </a:prstGeom>
          <a:noFill/>
          <a:ln/>
        </p:spPr>
        <p:txBody>
          <a:bodyPr wrap="square" lIns="0" tIns="0" rIns="0" bIns="0" rtlCol="0" anchor="ctr"/>
          <a:lstStyle/>
          <a:p>
            <a:pPr marL="0" indent="0" algn="ctr">
              <a:buNone/>
            </a:pPr>
            <a:r>
              <a:rPr lang="en-US" sz="1600" b="1" dirty="0">
                <a:solidFill>
                  <a:schemeClr val="bg1"/>
                </a:solidFill>
              </a:rPr>
              <a:t>5</a:t>
            </a:r>
            <a:endParaRPr lang="en-US" sz="1600" dirty="0"/>
          </a:p>
        </p:txBody>
      </p:sp>
      <p:sp>
        <p:nvSpPr>
          <p:cNvPr id="23" name="Text 20"/>
          <p:cNvSpPr txBox="1"/>
          <p:nvPr/>
        </p:nvSpPr>
        <p:spPr>
          <a:xfrm>
            <a:off x="5440680" y="1280160"/>
            <a:ext cx="3108960" cy="685800"/>
          </a:xfrm>
          <a:prstGeom prst="rect">
            <a:avLst/>
          </a:prstGeom>
          <a:noFill/>
          <a:ln/>
        </p:spPr>
        <p:txBody>
          <a:bodyPr wrap="square" lIns="0" tIns="0" rIns="0" bIns="0" rtlCol="0" anchor="ctr"/>
          <a:lstStyle/>
          <a:p>
            <a:pPr marL="0" indent="0" algn="l">
              <a:buNone/>
            </a:pPr>
            <a:r>
              <a:rPr lang="en-US" sz="1600" dirty="0">
                <a:solidFill>
                  <a:schemeClr val="tx1"/>
                </a:solidFill>
              </a:rPr>
              <a:t>AI matching deep dive</a:t>
            </a:r>
            <a:endParaRPr lang="en-US" sz="1600" dirty="0"/>
          </a:p>
        </p:txBody>
      </p:sp>
      <p:sp>
        <p:nvSpPr>
          <p:cNvPr id="24" name="Shape 21"/>
          <p:cNvSpPr/>
          <p:nvPr/>
        </p:nvSpPr>
        <p:spPr>
          <a:xfrm>
            <a:off x="4663440" y="2103120"/>
            <a:ext cx="4023360" cy="685800"/>
          </a:xfrm>
          <a:prstGeom prst="roundRect">
            <a:avLst>
              <a:gd name="adj" fmla="val 10667"/>
            </a:avLst>
          </a:prstGeom>
          <a:solidFill>
            <a:schemeClr val="bg2"/>
          </a:solidFill>
          <a:ln/>
        </p:spPr>
      </p:sp>
      <p:sp>
        <p:nvSpPr>
          <p:cNvPr id="25" name="Number 6"/>
          <p:cNvSpPr/>
          <p:nvPr/>
        </p:nvSpPr>
        <p:spPr>
          <a:xfrm>
            <a:off x="4800600" y="2217420"/>
            <a:ext cx="457200" cy="457200"/>
          </a:xfrm>
          <a:prstGeom prst="ellipse">
            <a:avLst/>
          </a:prstGeom>
          <a:solidFill>
            <a:schemeClr val="accent1"/>
          </a:solidFill>
          <a:ln/>
        </p:spPr>
      </p:sp>
      <p:sp>
        <p:nvSpPr>
          <p:cNvPr id="26" name="Text 23"/>
          <p:cNvSpPr txBox="1"/>
          <p:nvPr/>
        </p:nvSpPr>
        <p:spPr>
          <a:xfrm>
            <a:off x="4800600" y="2217420"/>
            <a:ext cx="457200" cy="457200"/>
          </a:xfrm>
          <a:prstGeom prst="rect">
            <a:avLst/>
          </a:prstGeom>
          <a:noFill/>
          <a:ln/>
        </p:spPr>
        <p:txBody>
          <a:bodyPr wrap="square" lIns="0" tIns="0" rIns="0" bIns="0" rtlCol="0" anchor="ctr"/>
          <a:lstStyle/>
          <a:p>
            <a:pPr marL="0" indent="0" algn="ctr">
              <a:buNone/>
            </a:pPr>
            <a:r>
              <a:rPr lang="en-US" sz="1600" b="1" dirty="0">
                <a:solidFill>
                  <a:schemeClr val="bg1"/>
                </a:solidFill>
              </a:rPr>
              <a:t>6</a:t>
            </a:r>
            <a:endParaRPr lang="en-US" sz="1600" dirty="0"/>
          </a:p>
        </p:txBody>
      </p:sp>
      <p:sp>
        <p:nvSpPr>
          <p:cNvPr id="27" name="Text 24"/>
          <p:cNvSpPr txBox="1"/>
          <p:nvPr/>
        </p:nvSpPr>
        <p:spPr>
          <a:xfrm>
            <a:off x="5440680" y="2103120"/>
            <a:ext cx="3108960" cy="685800"/>
          </a:xfrm>
          <a:prstGeom prst="rect">
            <a:avLst/>
          </a:prstGeom>
          <a:noFill/>
          <a:ln/>
        </p:spPr>
        <p:txBody>
          <a:bodyPr wrap="square" lIns="0" tIns="0" rIns="0" bIns="0" rtlCol="0" anchor="ctr"/>
          <a:lstStyle/>
          <a:p>
            <a:pPr marL="0" indent="0" algn="l">
              <a:buNone/>
            </a:pPr>
            <a:r>
              <a:rPr lang="en-US" sz="1600" dirty="0">
                <a:solidFill>
                  <a:schemeClr val="tx1"/>
                </a:solidFill>
              </a:rPr>
              <a:t>Claims flow</a:t>
            </a:r>
            <a:endParaRPr lang="en-US" sz="1600" dirty="0"/>
          </a:p>
        </p:txBody>
      </p:sp>
      <p:sp>
        <p:nvSpPr>
          <p:cNvPr id="28" name="Shape 25"/>
          <p:cNvSpPr/>
          <p:nvPr/>
        </p:nvSpPr>
        <p:spPr>
          <a:xfrm>
            <a:off x="4663440" y="2926080"/>
            <a:ext cx="4023360" cy="685800"/>
          </a:xfrm>
          <a:prstGeom prst="roundRect">
            <a:avLst>
              <a:gd name="adj" fmla="val 10667"/>
            </a:avLst>
          </a:prstGeom>
          <a:solidFill>
            <a:schemeClr val="bg2"/>
          </a:solidFill>
          <a:ln/>
        </p:spPr>
      </p:sp>
      <p:sp>
        <p:nvSpPr>
          <p:cNvPr id="29" name="Number 7"/>
          <p:cNvSpPr/>
          <p:nvPr/>
        </p:nvSpPr>
        <p:spPr>
          <a:xfrm>
            <a:off x="4800600" y="3040380"/>
            <a:ext cx="457200" cy="457200"/>
          </a:xfrm>
          <a:prstGeom prst="ellipse">
            <a:avLst/>
          </a:prstGeom>
          <a:solidFill>
            <a:schemeClr val="tx2"/>
          </a:solidFill>
          <a:ln/>
        </p:spPr>
      </p:sp>
      <p:sp>
        <p:nvSpPr>
          <p:cNvPr id="30" name="Text 27"/>
          <p:cNvSpPr txBox="1"/>
          <p:nvPr/>
        </p:nvSpPr>
        <p:spPr>
          <a:xfrm>
            <a:off x="4800600" y="3040380"/>
            <a:ext cx="457200" cy="457200"/>
          </a:xfrm>
          <a:prstGeom prst="rect">
            <a:avLst/>
          </a:prstGeom>
          <a:noFill/>
          <a:ln/>
        </p:spPr>
        <p:txBody>
          <a:bodyPr wrap="square" lIns="0" tIns="0" rIns="0" bIns="0" rtlCol="0" anchor="ctr"/>
          <a:lstStyle/>
          <a:p>
            <a:pPr marL="0" indent="0" algn="ctr">
              <a:buNone/>
            </a:pPr>
            <a:r>
              <a:rPr lang="en-US" sz="1600" b="1" dirty="0">
                <a:solidFill>
                  <a:schemeClr val="bg1"/>
                </a:solidFill>
              </a:rPr>
              <a:t>7</a:t>
            </a:r>
            <a:endParaRPr lang="en-US" sz="1600" dirty="0"/>
          </a:p>
        </p:txBody>
      </p:sp>
      <p:sp>
        <p:nvSpPr>
          <p:cNvPr id="31" name="Text 28"/>
          <p:cNvSpPr txBox="1"/>
          <p:nvPr/>
        </p:nvSpPr>
        <p:spPr>
          <a:xfrm>
            <a:off x="5440680" y="2926080"/>
            <a:ext cx="3108960" cy="685800"/>
          </a:xfrm>
          <a:prstGeom prst="rect">
            <a:avLst/>
          </a:prstGeom>
          <a:noFill/>
          <a:ln/>
        </p:spPr>
        <p:txBody>
          <a:bodyPr wrap="square" lIns="0" tIns="0" rIns="0" bIns="0" rtlCol="0" anchor="ctr"/>
          <a:lstStyle/>
          <a:p>
            <a:pPr marL="0" indent="0" algn="l">
              <a:buNone/>
            </a:pPr>
            <a:r>
              <a:rPr lang="en-US" sz="1600" dirty="0">
                <a:solidFill>
                  <a:schemeClr val="tx1"/>
                </a:solidFill>
              </a:rPr>
              <a:t>Challenges and lessons</a:t>
            </a:r>
            <a:endParaRPr lang="en-US" sz="1600" dirty="0"/>
          </a:p>
        </p:txBody>
      </p:sp>
      <p:sp>
        <p:nvSpPr>
          <p:cNvPr id="32" name="Shape 29"/>
          <p:cNvSpPr/>
          <p:nvPr/>
        </p:nvSpPr>
        <p:spPr>
          <a:xfrm>
            <a:off x="4663440" y="3749040"/>
            <a:ext cx="4023360" cy="685800"/>
          </a:xfrm>
          <a:prstGeom prst="roundRect">
            <a:avLst>
              <a:gd name="adj" fmla="val 10667"/>
            </a:avLst>
          </a:prstGeom>
          <a:solidFill>
            <a:schemeClr val="bg2"/>
          </a:solidFill>
          <a:ln/>
        </p:spPr>
      </p:sp>
      <p:sp>
        <p:nvSpPr>
          <p:cNvPr id="33" name="Number 8"/>
          <p:cNvSpPr/>
          <p:nvPr/>
        </p:nvSpPr>
        <p:spPr>
          <a:xfrm>
            <a:off x="4800600" y="3863340"/>
            <a:ext cx="457200" cy="457200"/>
          </a:xfrm>
          <a:prstGeom prst="ellipse">
            <a:avLst/>
          </a:prstGeom>
          <a:solidFill>
            <a:schemeClr val="accent1"/>
          </a:solidFill>
          <a:ln/>
        </p:spPr>
      </p:sp>
      <p:sp>
        <p:nvSpPr>
          <p:cNvPr id="34" name="Text 31"/>
          <p:cNvSpPr txBox="1"/>
          <p:nvPr/>
        </p:nvSpPr>
        <p:spPr>
          <a:xfrm>
            <a:off x="4800600" y="3863340"/>
            <a:ext cx="457200" cy="457200"/>
          </a:xfrm>
          <a:prstGeom prst="rect">
            <a:avLst/>
          </a:prstGeom>
          <a:noFill/>
          <a:ln/>
        </p:spPr>
        <p:txBody>
          <a:bodyPr wrap="square" lIns="0" tIns="0" rIns="0" bIns="0" rtlCol="0" anchor="ctr"/>
          <a:lstStyle/>
          <a:p>
            <a:pPr marL="0" indent="0" algn="ctr">
              <a:buNone/>
            </a:pPr>
            <a:r>
              <a:rPr lang="en-US" sz="1600" b="1" dirty="0">
                <a:solidFill>
                  <a:schemeClr val="bg1"/>
                </a:solidFill>
              </a:rPr>
              <a:t>8</a:t>
            </a:r>
            <a:endParaRPr lang="en-US" sz="1600" dirty="0"/>
          </a:p>
        </p:txBody>
      </p:sp>
      <p:sp>
        <p:nvSpPr>
          <p:cNvPr id="35" name="Text 32"/>
          <p:cNvSpPr txBox="1"/>
          <p:nvPr/>
        </p:nvSpPr>
        <p:spPr>
          <a:xfrm>
            <a:off x="5440680" y="3749040"/>
            <a:ext cx="3108960" cy="685800"/>
          </a:xfrm>
          <a:prstGeom prst="rect">
            <a:avLst/>
          </a:prstGeom>
          <a:noFill/>
          <a:ln/>
        </p:spPr>
        <p:txBody>
          <a:bodyPr wrap="square" lIns="0" tIns="0" rIns="0" bIns="0" rtlCol="0" anchor="ctr"/>
          <a:lstStyle/>
          <a:p>
            <a:pPr marL="0" indent="0" algn="l">
              <a:buNone/>
            </a:pPr>
            <a:r>
              <a:rPr lang="en-US" sz="1600" dirty="0">
                <a:solidFill>
                  <a:schemeClr val="tx1"/>
                </a:solidFill>
              </a:rPr>
              <a:t>Demo and what's next</a:t>
            </a:r>
            <a:endParaRPr lang="en-US" sz="1600" dirty="0"/>
          </a:p>
        </p:txBody>
      </p:sp>
      <p:sp>
        <p:nvSpPr>
          <p:cNvPr id="3"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320040"/>
            <a:ext cx="8229600" cy="731520"/>
          </a:xfrm>
          <a:prstGeom prst="rect">
            <a:avLst/>
          </a:prstGeom>
          <a:noFill/>
          <a:ln/>
        </p:spPr>
        <p:txBody>
          <a:bodyPr wrap="square" lIns="0" tIns="0" rIns="0" bIns="0" rtlCol="0" anchor="ctr"/>
          <a:lstStyle/>
          <a:p>
            <a:pPr marL="0" indent="0" algn="l">
              <a:buNone/>
            </a:pPr>
            <a:r>
              <a:rPr lang="en-US" sz="3400" b="1" dirty="0">
                <a:solidFill>
                  <a:schemeClr val="tx2"/>
                </a:solidFill>
              </a:rPr>
              <a:t>The problem</a:t>
            </a:r>
            <a:endParaRPr lang="en-US" sz="3400" dirty="0"/>
          </a:p>
        </p:txBody>
      </p:sp>
      <p:sp>
        <p:nvSpPr>
          <p:cNvPr id="4" name="Shape 1"/>
          <p:cNvSpPr/>
          <p:nvPr/>
        </p:nvSpPr>
        <p:spPr>
          <a:xfrm>
            <a:off x="457200" y="1280160"/>
            <a:ext cx="3291840" cy="3108960"/>
          </a:xfrm>
          <a:prstGeom prst="roundRect">
            <a:avLst>
              <a:gd name="adj" fmla="val 2353"/>
            </a:avLst>
          </a:prstGeom>
          <a:solidFill>
            <a:schemeClr val="tx2"/>
          </a:solidFill>
          <a:ln/>
        </p:spPr>
      </p:sp>
      <p:sp>
        <p:nvSpPr>
          <p:cNvPr id="5" name="Text 2"/>
          <p:cNvSpPr txBox="1"/>
          <p:nvPr/>
        </p:nvSpPr>
        <p:spPr>
          <a:xfrm>
            <a:off x="731520" y="1554480"/>
            <a:ext cx="2743200" cy="457200"/>
          </a:xfrm>
          <a:prstGeom prst="rect">
            <a:avLst/>
          </a:prstGeom>
          <a:noFill/>
          <a:ln/>
        </p:spPr>
        <p:txBody>
          <a:bodyPr wrap="square" lIns="0" tIns="0" rIns="0" bIns="0" rtlCol="0" anchor="t"/>
          <a:lstStyle/>
          <a:p>
            <a:pPr marL="0" indent="0" algn="l">
              <a:buNone/>
            </a:pPr>
            <a:r>
              <a:rPr lang="en-US" sz="2800" dirty="0">
                <a:solidFill>
                  <a:schemeClr val="bg1"/>
                </a:solidFill>
                <a:latin typeface="+mj-lt" pitchFamily="34" charset="0"/>
                <a:ea typeface="+mj-lt" pitchFamily="34" charset="-122"/>
                <a:cs typeface="+mj-lt" pitchFamily="34" charset="-120"/>
              </a:rPr>
              <a:t>“black bag”</a:t>
            </a:r>
            <a:endParaRPr lang="en-US" sz="2800" dirty="0"/>
          </a:p>
        </p:txBody>
      </p:sp>
      <p:sp>
        <p:nvSpPr>
          <p:cNvPr id="6" name="Text 3"/>
          <p:cNvSpPr txBox="1"/>
          <p:nvPr/>
        </p:nvSpPr>
        <p:spPr>
          <a:xfrm>
            <a:off x="731520" y="2103120"/>
            <a:ext cx="2743200" cy="457200"/>
          </a:xfrm>
          <a:prstGeom prst="rect">
            <a:avLst/>
          </a:prstGeom>
          <a:noFill/>
          <a:ln/>
        </p:spPr>
        <p:txBody>
          <a:bodyPr wrap="square" lIns="0" tIns="0" rIns="0" bIns="0" rtlCol="0" anchor="t"/>
          <a:lstStyle/>
          <a:p>
            <a:pPr marL="0" indent="0" algn="l">
              <a:buNone/>
            </a:pPr>
            <a:r>
              <a:rPr lang="en-US" sz="2800" b="1" dirty="0">
                <a:solidFill>
                  <a:schemeClr val="accent2"/>
                </a:solidFill>
              </a:rPr>
              <a:t>≠</a:t>
            </a:r>
            <a:endParaRPr lang="en-US" sz="2800" dirty="0"/>
          </a:p>
        </p:txBody>
      </p:sp>
      <p:sp>
        <p:nvSpPr>
          <p:cNvPr id="7" name="Text 4"/>
          <p:cNvSpPr txBox="1"/>
          <p:nvPr/>
        </p:nvSpPr>
        <p:spPr>
          <a:xfrm>
            <a:off x="731520" y="2651760"/>
            <a:ext cx="2743200" cy="457200"/>
          </a:xfrm>
          <a:prstGeom prst="rect">
            <a:avLst/>
          </a:prstGeom>
          <a:noFill/>
          <a:ln/>
        </p:spPr>
        <p:txBody>
          <a:bodyPr wrap="square" lIns="0" tIns="0" rIns="0" bIns="0" rtlCol="0" anchor="t"/>
          <a:lstStyle/>
          <a:p>
            <a:pPr marL="0" indent="0" algn="l">
              <a:buNone/>
            </a:pPr>
            <a:r>
              <a:rPr lang="en-US" sz="2800" dirty="0">
                <a:solidFill>
                  <a:schemeClr val="bg1"/>
                </a:solidFill>
                <a:latin typeface="+mj-lt" pitchFamily="34" charset="0"/>
                <a:ea typeface="+mj-lt" pitchFamily="34" charset="-122"/>
                <a:cs typeface="+mj-lt" pitchFamily="34" charset="-120"/>
              </a:rPr>
              <a:t>“dark backpack”</a:t>
            </a:r>
            <a:endParaRPr lang="en-US" sz="2800" dirty="0"/>
          </a:p>
        </p:txBody>
      </p:sp>
      <p:sp>
        <p:nvSpPr>
          <p:cNvPr id="8" name="Text 5"/>
          <p:cNvSpPr txBox="1"/>
          <p:nvPr/>
        </p:nvSpPr>
        <p:spPr>
          <a:xfrm>
            <a:off x="731520" y="3383280"/>
            <a:ext cx="2743200" cy="731520"/>
          </a:xfrm>
          <a:prstGeom prst="rect">
            <a:avLst/>
          </a:prstGeom>
          <a:noFill/>
          <a:ln/>
        </p:spPr>
        <p:txBody>
          <a:bodyPr wrap="square" lIns="0" tIns="0" rIns="0" bIns="0" rtlCol="0" anchor="t"/>
          <a:lstStyle/>
          <a:p>
            <a:pPr marL="0" indent="0" algn="l">
              <a:buNone/>
            </a:pPr>
            <a:r>
              <a:rPr lang="en-US" sz="1600" dirty="0">
                <a:solidFill>
                  <a:schemeClr val="bg2"/>
                </a:solidFill>
              </a:rPr>
              <a:t>Same item, different words. Keyword search misses it.</a:t>
            </a:r>
            <a:endParaRPr lang="en-US" sz="1600" dirty="0"/>
          </a:p>
        </p:txBody>
      </p:sp>
      <p:sp>
        <p:nvSpPr>
          <p:cNvPr id="9" name="Shape 6"/>
          <p:cNvSpPr/>
          <p:nvPr/>
        </p:nvSpPr>
        <p:spPr>
          <a:xfrm>
            <a:off x="4023360" y="1280160"/>
            <a:ext cx="4663440" cy="713232"/>
          </a:xfrm>
          <a:prstGeom prst="roundRect">
            <a:avLst>
              <a:gd name="adj" fmla="val 10256"/>
            </a:avLst>
          </a:prstGeom>
          <a:solidFill>
            <a:schemeClr val="bg2"/>
          </a:solidFill>
          <a:ln/>
        </p:spPr>
      </p:sp>
      <p:sp>
        <p:nvSpPr>
          <p:cNvPr id="10" name="Icon circle FaClipboardList"/>
          <p:cNvSpPr/>
          <p:nvPr/>
        </p:nvSpPr>
        <p:spPr>
          <a:xfrm>
            <a:off x="4160520" y="1385316"/>
            <a:ext cx="502920" cy="502920"/>
          </a:xfrm>
          <a:prstGeom prst="ellipse">
            <a:avLst/>
          </a:prstGeom>
          <a:solidFill>
            <a:schemeClr val="accent3"/>
          </a:solidFill>
          <a:ln/>
        </p:spPr>
      </p:sp>
      <p:pic>
        <p:nvPicPr>
          <p:cNvPr id="11" name="Image 0" descr="ClipboardList icon"/>
          <p:cNvPicPr>
            <a:picLocks noChangeAspect="1"/>
          </p:cNvPicPr>
          <p:nvPr/>
        </p:nvPicPr>
        <p:blipFill>
          <a:blip r:embed="rId3"/>
          <a:stretch>
            <a:fillRect/>
          </a:stretch>
        </p:blipFill>
        <p:spPr>
          <a:xfrm>
            <a:off x="4286250" y="1511046"/>
            <a:ext cx="251460" cy="251460"/>
          </a:xfrm>
          <a:prstGeom prst="rect">
            <a:avLst/>
          </a:prstGeom>
        </p:spPr>
      </p:pic>
      <p:sp>
        <p:nvSpPr>
          <p:cNvPr id="12" name="Text 8"/>
          <p:cNvSpPr txBox="1"/>
          <p:nvPr/>
        </p:nvSpPr>
        <p:spPr>
          <a:xfrm>
            <a:off x="4846320" y="1280160"/>
            <a:ext cx="3703320" cy="713232"/>
          </a:xfrm>
          <a:prstGeom prst="rect">
            <a:avLst/>
          </a:prstGeom>
          <a:noFill/>
          <a:ln/>
        </p:spPr>
        <p:txBody>
          <a:bodyPr wrap="square" lIns="0" tIns="0" rIns="0" bIns="0" rtlCol="0" anchor="ctr"/>
          <a:lstStyle/>
          <a:p>
            <a:pPr marL="0" indent="0" algn="l">
              <a:buNone/>
            </a:pPr>
            <a:r>
              <a:rPr lang="en-US" sz="1500" dirty="0">
                <a:solidFill>
                  <a:schemeClr val="tx1"/>
                </a:solidFill>
              </a:rPr>
              <a:t>Notice boards and group chats don't scale</a:t>
            </a:r>
            <a:endParaRPr lang="en-US" sz="1500" dirty="0"/>
          </a:p>
        </p:txBody>
      </p:sp>
      <p:sp>
        <p:nvSpPr>
          <p:cNvPr id="13" name="Shape 9"/>
          <p:cNvSpPr/>
          <p:nvPr/>
        </p:nvSpPr>
        <p:spPr>
          <a:xfrm>
            <a:off x="4023360" y="2084832"/>
            <a:ext cx="4663440" cy="713232"/>
          </a:xfrm>
          <a:prstGeom prst="roundRect">
            <a:avLst>
              <a:gd name="adj" fmla="val 10256"/>
            </a:avLst>
          </a:prstGeom>
          <a:solidFill>
            <a:schemeClr val="bg2"/>
          </a:solidFill>
          <a:ln/>
        </p:spPr>
      </p:sp>
      <p:sp>
        <p:nvSpPr>
          <p:cNvPr id="14" name="Icon circle FaCommentDots"/>
          <p:cNvSpPr/>
          <p:nvPr/>
        </p:nvSpPr>
        <p:spPr>
          <a:xfrm>
            <a:off x="4160520" y="2189988"/>
            <a:ext cx="502920" cy="502920"/>
          </a:xfrm>
          <a:prstGeom prst="ellipse">
            <a:avLst/>
          </a:prstGeom>
          <a:solidFill>
            <a:schemeClr val="accent3"/>
          </a:solidFill>
          <a:ln/>
        </p:spPr>
      </p:sp>
      <p:pic>
        <p:nvPicPr>
          <p:cNvPr id="15" name="Image 1" descr="CommentDots icon"/>
          <p:cNvPicPr>
            <a:picLocks noChangeAspect="1"/>
          </p:cNvPicPr>
          <p:nvPr/>
        </p:nvPicPr>
        <p:blipFill>
          <a:blip r:embed="rId4"/>
          <a:stretch>
            <a:fillRect/>
          </a:stretch>
        </p:blipFill>
        <p:spPr>
          <a:xfrm>
            <a:off x="4286250" y="2315718"/>
            <a:ext cx="251460" cy="251460"/>
          </a:xfrm>
          <a:prstGeom prst="rect">
            <a:avLst/>
          </a:prstGeom>
        </p:spPr>
      </p:pic>
      <p:sp>
        <p:nvSpPr>
          <p:cNvPr id="16" name="Text 11"/>
          <p:cNvSpPr txBox="1"/>
          <p:nvPr/>
        </p:nvSpPr>
        <p:spPr>
          <a:xfrm>
            <a:off x="4846320" y="2084832"/>
            <a:ext cx="3703320" cy="713232"/>
          </a:xfrm>
          <a:prstGeom prst="rect">
            <a:avLst/>
          </a:prstGeom>
          <a:noFill/>
          <a:ln/>
        </p:spPr>
        <p:txBody>
          <a:bodyPr wrap="square" lIns="0" tIns="0" rIns="0" bIns="0" rtlCol="0" anchor="ctr"/>
          <a:lstStyle/>
          <a:p>
            <a:pPr marL="0" indent="0" algn="l">
              <a:buNone/>
            </a:pPr>
            <a:r>
              <a:rPr lang="en-US" sz="1500" dirty="0">
                <a:solidFill>
                  <a:schemeClr val="tx1"/>
                </a:solidFill>
              </a:rPr>
              <a:t>Owners and finders describe items differently</a:t>
            </a:r>
            <a:endParaRPr lang="en-US" sz="1500" dirty="0"/>
          </a:p>
        </p:txBody>
      </p:sp>
      <p:sp>
        <p:nvSpPr>
          <p:cNvPr id="17" name="Shape 12"/>
          <p:cNvSpPr/>
          <p:nvPr/>
        </p:nvSpPr>
        <p:spPr>
          <a:xfrm>
            <a:off x="4023360" y="2889504"/>
            <a:ext cx="4663440" cy="713232"/>
          </a:xfrm>
          <a:prstGeom prst="roundRect">
            <a:avLst>
              <a:gd name="adj" fmla="val 10256"/>
            </a:avLst>
          </a:prstGeom>
          <a:solidFill>
            <a:schemeClr val="bg2"/>
          </a:solidFill>
          <a:ln/>
        </p:spPr>
      </p:sp>
      <p:sp>
        <p:nvSpPr>
          <p:cNvPr id="18" name="Icon circle FaUserShield"/>
          <p:cNvSpPr/>
          <p:nvPr/>
        </p:nvSpPr>
        <p:spPr>
          <a:xfrm>
            <a:off x="4160520" y="2994660"/>
            <a:ext cx="502920" cy="502920"/>
          </a:xfrm>
          <a:prstGeom prst="ellipse">
            <a:avLst/>
          </a:prstGeom>
          <a:solidFill>
            <a:schemeClr val="accent3"/>
          </a:solidFill>
          <a:ln/>
        </p:spPr>
      </p:sp>
      <p:pic>
        <p:nvPicPr>
          <p:cNvPr id="19" name="Image 2" descr="UserShield icon"/>
          <p:cNvPicPr>
            <a:picLocks noChangeAspect="1"/>
          </p:cNvPicPr>
          <p:nvPr/>
        </p:nvPicPr>
        <p:blipFill>
          <a:blip r:embed="rId5"/>
          <a:stretch>
            <a:fillRect/>
          </a:stretch>
        </p:blipFill>
        <p:spPr>
          <a:xfrm>
            <a:off x="4286250" y="3120390"/>
            <a:ext cx="251460" cy="251460"/>
          </a:xfrm>
          <a:prstGeom prst="rect">
            <a:avLst/>
          </a:prstGeom>
        </p:spPr>
      </p:pic>
      <p:sp>
        <p:nvSpPr>
          <p:cNvPr id="20" name="Text 14"/>
          <p:cNvSpPr txBox="1"/>
          <p:nvPr/>
        </p:nvSpPr>
        <p:spPr>
          <a:xfrm>
            <a:off x="4846320" y="2889504"/>
            <a:ext cx="3703320" cy="713232"/>
          </a:xfrm>
          <a:prstGeom prst="rect">
            <a:avLst/>
          </a:prstGeom>
          <a:noFill/>
          <a:ln/>
        </p:spPr>
        <p:txBody>
          <a:bodyPr wrap="square" lIns="0" tIns="0" rIns="0" bIns="0" rtlCol="0" anchor="ctr"/>
          <a:lstStyle/>
          <a:p>
            <a:pPr marL="0" indent="0" algn="l">
              <a:buNone/>
            </a:pPr>
            <a:r>
              <a:rPr lang="en-US" sz="1500" dirty="0">
                <a:solidFill>
                  <a:schemeClr val="tx1"/>
                </a:solidFill>
              </a:rPr>
              <a:t>No ownership check, so anyone can claim anything</a:t>
            </a:r>
            <a:endParaRPr lang="en-US" sz="1500" dirty="0"/>
          </a:p>
        </p:txBody>
      </p:sp>
      <p:sp>
        <p:nvSpPr>
          <p:cNvPr id="21" name="Shape 15"/>
          <p:cNvSpPr/>
          <p:nvPr/>
        </p:nvSpPr>
        <p:spPr>
          <a:xfrm>
            <a:off x="4023360" y="3694176"/>
            <a:ext cx="4663440" cy="713232"/>
          </a:xfrm>
          <a:prstGeom prst="roundRect">
            <a:avLst>
              <a:gd name="adj" fmla="val 10256"/>
            </a:avLst>
          </a:prstGeom>
          <a:solidFill>
            <a:schemeClr val="bg2"/>
          </a:solidFill>
          <a:ln/>
        </p:spPr>
      </p:sp>
      <p:sp>
        <p:nvSpPr>
          <p:cNvPr id="22" name="Icon circle FaBell"/>
          <p:cNvSpPr/>
          <p:nvPr/>
        </p:nvSpPr>
        <p:spPr>
          <a:xfrm>
            <a:off x="4160520" y="3799332"/>
            <a:ext cx="502920" cy="502920"/>
          </a:xfrm>
          <a:prstGeom prst="ellipse">
            <a:avLst/>
          </a:prstGeom>
          <a:solidFill>
            <a:schemeClr val="accent3"/>
          </a:solidFill>
          <a:ln/>
        </p:spPr>
      </p:sp>
      <p:pic>
        <p:nvPicPr>
          <p:cNvPr id="23" name="Image 3" descr="Bell icon"/>
          <p:cNvPicPr>
            <a:picLocks noChangeAspect="1"/>
          </p:cNvPicPr>
          <p:nvPr/>
        </p:nvPicPr>
        <p:blipFill>
          <a:blip r:embed="rId6"/>
          <a:stretch>
            <a:fillRect/>
          </a:stretch>
        </p:blipFill>
        <p:spPr>
          <a:xfrm>
            <a:off x="4286250" y="3925062"/>
            <a:ext cx="251460" cy="251460"/>
          </a:xfrm>
          <a:prstGeom prst="rect">
            <a:avLst/>
          </a:prstGeom>
        </p:spPr>
      </p:pic>
      <p:sp>
        <p:nvSpPr>
          <p:cNvPr id="24" name="Text 17"/>
          <p:cNvSpPr txBox="1"/>
          <p:nvPr/>
        </p:nvSpPr>
        <p:spPr>
          <a:xfrm>
            <a:off x="4846320" y="3694176"/>
            <a:ext cx="3703320" cy="713232"/>
          </a:xfrm>
          <a:prstGeom prst="rect">
            <a:avLst/>
          </a:prstGeom>
          <a:noFill/>
          <a:ln/>
        </p:spPr>
        <p:txBody>
          <a:bodyPr wrap="square" lIns="0" tIns="0" rIns="0" bIns="0" rtlCol="0" anchor="ctr"/>
          <a:lstStyle/>
          <a:p>
            <a:pPr marL="0" indent="0" algn="l">
              <a:buNone/>
            </a:pPr>
            <a:r>
              <a:rPr lang="en-US" sz="1500" dirty="0">
                <a:solidFill>
                  <a:schemeClr val="tx1"/>
                </a:solidFill>
              </a:rPr>
              <a:t>Nobody is notified when a match appears</a:t>
            </a:r>
            <a:endParaRPr lang="en-US" sz="15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320040"/>
            <a:ext cx="8229600" cy="731520"/>
          </a:xfrm>
          <a:prstGeom prst="rect">
            <a:avLst/>
          </a:prstGeom>
          <a:noFill/>
          <a:ln/>
        </p:spPr>
        <p:txBody>
          <a:bodyPr wrap="square" lIns="0" tIns="0" rIns="0" bIns="0" rtlCol="0" anchor="ctr"/>
          <a:lstStyle/>
          <a:p>
            <a:pPr marL="0" indent="0" algn="l">
              <a:buNone/>
            </a:pPr>
            <a:r>
              <a:rPr lang="en-US" sz="3400" b="1" dirty="0">
                <a:solidFill>
                  <a:schemeClr val="tx2"/>
                </a:solidFill>
              </a:rPr>
              <a:t>Our solution</a:t>
            </a:r>
            <a:endParaRPr lang="en-US" sz="3400" dirty="0"/>
          </a:p>
        </p:txBody>
      </p:sp>
      <p:sp>
        <p:nvSpPr>
          <p:cNvPr id="4" name="Shape 1"/>
          <p:cNvSpPr/>
          <p:nvPr/>
        </p:nvSpPr>
        <p:spPr>
          <a:xfrm>
            <a:off x="457200" y="1280160"/>
            <a:ext cx="1920240" cy="3108960"/>
          </a:xfrm>
          <a:prstGeom prst="roundRect">
            <a:avLst>
              <a:gd name="adj" fmla="val 3810"/>
            </a:avLst>
          </a:prstGeom>
          <a:solidFill>
            <a:schemeClr val="bg2"/>
          </a:solidFill>
          <a:ln/>
        </p:spPr>
      </p:sp>
      <p:sp>
        <p:nvSpPr>
          <p:cNvPr id="5" name="Icon circle FaCamera"/>
          <p:cNvSpPr/>
          <p:nvPr/>
        </p:nvSpPr>
        <p:spPr>
          <a:xfrm>
            <a:off x="640080" y="1508760"/>
            <a:ext cx="731520" cy="731520"/>
          </a:xfrm>
          <a:prstGeom prst="ellipse">
            <a:avLst/>
          </a:prstGeom>
          <a:solidFill>
            <a:schemeClr val="tx2"/>
          </a:solidFill>
          <a:ln/>
        </p:spPr>
      </p:sp>
      <p:pic>
        <p:nvPicPr>
          <p:cNvPr id="6" name="Image 0" descr="Camera icon"/>
          <p:cNvPicPr>
            <a:picLocks noChangeAspect="1"/>
          </p:cNvPicPr>
          <p:nvPr/>
        </p:nvPicPr>
        <p:blipFill>
          <a:blip r:embed="rId3"/>
          <a:stretch>
            <a:fillRect/>
          </a:stretch>
        </p:blipFill>
        <p:spPr>
          <a:xfrm>
            <a:off x="822960" y="1691640"/>
            <a:ext cx="365760" cy="365760"/>
          </a:xfrm>
          <a:prstGeom prst="rect">
            <a:avLst/>
          </a:prstGeom>
        </p:spPr>
      </p:pic>
      <p:sp>
        <p:nvSpPr>
          <p:cNvPr id="7" name="Text 3"/>
          <p:cNvSpPr txBox="1"/>
          <p:nvPr/>
        </p:nvSpPr>
        <p:spPr>
          <a:xfrm>
            <a:off x="1828800" y="1554480"/>
            <a:ext cx="365760" cy="457200"/>
          </a:xfrm>
          <a:prstGeom prst="rect">
            <a:avLst/>
          </a:prstGeom>
          <a:noFill/>
          <a:ln/>
        </p:spPr>
        <p:txBody>
          <a:bodyPr wrap="square" lIns="0" tIns="0" rIns="0" bIns="0" rtlCol="0" anchor="t"/>
          <a:lstStyle/>
          <a:p>
            <a:pPr marL="0" indent="0" algn="r">
              <a:buNone/>
            </a:pPr>
            <a:r>
              <a:rPr lang="en-US" sz="2800" b="1" dirty="0">
                <a:solidFill>
                  <a:schemeClr val="accent2"/>
                </a:solidFill>
                <a:latin typeface="+mj-lt" pitchFamily="34" charset="0"/>
                <a:ea typeface="+mj-lt" pitchFamily="34" charset="-122"/>
                <a:cs typeface="+mj-lt" pitchFamily="34" charset="-120"/>
              </a:rPr>
              <a:t>1</a:t>
            </a:r>
            <a:endParaRPr lang="en-US" sz="2800" dirty="0"/>
          </a:p>
        </p:txBody>
      </p:sp>
      <p:sp>
        <p:nvSpPr>
          <p:cNvPr id="8" name="Text 4"/>
          <p:cNvSpPr txBox="1"/>
          <p:nvPr/>
        </p:nvSpPr>
        <p:spPr>
          <a:xfrm>
            <a:off x="640080" y="2468880"/>
            <a:ext cx="1554480" cy="365760"/>
          </a:xfrm>
          <a:prstGeom prst="rect">
            <a:avLst/>
          </a:prstGeom>
          <a:noFill/>
          <a:ln/>
        </p:spPr>
        <p:txBody>
          <a:bodyPr wrap="square" lIns="0" tIns="0" rIns="0" bIns="0" rtlCol="0" anchor="t"/>
          <a:lstStyle/>
          <a:p>
            <a:pPr marL="0" indent="0" algn="l">
              <a:buNone/>
            </a:pPr>
            <a:r>
              <a:rPr lang="en-US" sz="2000" b="1" dirty="0">
                <a:solidFill>
                  <a:schemeClr val="tx2"/>
                </a:solidFill>
              </a:rPr>
              <a:t>Report</a:t>
            </a:r>
            <a:endParaRPr lang="en-US" sz="2000" dirty="0"/>
          </a:p>
        </p:txBody>
      </p:sp>
      <p:sp>
        <p:nvSpPr>
          <p:cNvPr id="9" name="Text 5"/>
          <p:cNvSpPr txBox="1"/>
          <p:nvPr/>
        </p:nvSpPr>
        <p:spPr>
          <a:xfrm>
            <a:off x="640080" y="2926080"/>
            <a:ext cx="1554480" cy="1371600"/>
          </a:xfrm>
          <a:prstGeom prst="rect">
            <a:avLst/>
          </a:prstGeom>
          <a:noFill/>
          <a:ln/>
        </p:spPr>
        <p:txBody>
          <a:bodyPr wrap="square" lIns="0" tIns="0" rIns="0" bIns="0" rtlCol="0" anchor="t"/>
          <a:lstStyle/>
          <a:p>
            <a:pPr marL="0" indent="0" algn="l">
              <a:buNone/>
            </a:pPr>
            <a:r>
              <a:rPr lang="en-US" sz="1400" dirty="0">
                <a:solidFill>
                  <a:schemeClr val="tx1"/>
                </a:solidFill>
              </a:rPr>
              <a:t>Photo, details and a map pin in under a minute</a:t>
            </a:r>
            <a:endParaRPr lang="en-US" sz="1400" dirty="0"/>
          </a:p>
        </p:txBody>
      </p:sp>
      <p:sp>
        <p:nvSpPr>
          <p:cNvPr id="10" name="Shape 6"/>
          <p:cNvSpPr/>
          <p:nvPr/>
        </p:nvSpPr>
        <p:spPr>
          <a:xfrm>
            <a:off x="2560320" y="1280160"/>
            <a:ext cx="1920240" cy="3108960"/>
          </a:xfrm>
          <a:prstGeom prst="roundRect">
            <a:avLst>
              <a:gd name="adj" fmla="val 3810"/>
            </a:avLst>
          </a:prstGeom>
          <a:solidFill>
            <a:schemeClr val="bg2"/>
          </a:solidFill>
          <a:ln/>
        </p:spPr>
      </p:sp>
      <p:sp>
        <p:nvSpPr>
          <p:cNvPr id="11" name="Icon circle FaBrain"/>
          <p:cNvSpPr/>
          <p:nvPr/>
        </p:nvSpPr>
        <p:spPr>
          <a:xfrm>
            <a:off x="2743200" y="1508760"/>
            <a:ext cx="731520" cy="731520"/>
          </a:xfrm>
          <a:prstGeom prst="ellipse">
            <a:avLst/>
          </a:prstGeom>
          <a:solidFill>
            <a:schemeClr val="accent1"/>
          </a:solidFill>
          <a:ln/>
        </p:spPr>
      </p:sp>
      <p:pic>
        <p:nvPicPr>
          <p:cNvPr id="12" name="Image 1" descr="Brain icon"/>
          <p:cNvPicPr>
            <a:picLocks noChangeAspect="1"/>
          </p:cNvPicPr>
          <p:nvPr/>
        </p:nvPicPr>
        <p:blipFill>
          <a:blip r:embed="rId4"/>
          <a:stretch>
            <a:fillRect/>
          </a:stretch>
        </p:blipFill>
        <p:spPr>
          <a:xfrm>
            <a:off x="2926080" y="1691640"/>
            <a:ext cx="365760" cy="365760"/>
          </a:xfrm>
          <a:prstGeom prst="rect">
            <a:avLst/>
          </a:prstGeom>
        </p:spPr>
      </p:pic>
      <p:sp>
        <p:nvSpPr>
          <p:cNvPr id="13" name="Text 8"/>
          <p:cNvSpPr txBox="1"/>
          <p:nvPr/>
        </p:nvSpPr>
        <p:spPr>
          <a:xfrm>
            <a:off x="3931920" y="1554480"/>
            <a:ext cx="365760" cy="457200"/>
          </a:xfrm>
          <a:prstGeom prst="rect">
            <a:avLst/>
          </a:prstGeom>
          <a:noFill/>
          <a:ln/>
        </p:spPr>
        <p:txBody>
          <a:bodyPr wrap="square" lIns="0" tIns="0" rIns="0" bIns="0" rtlCol="0" anchor="t"/>
          <a:lstStyle/>
          <a:p>
            <a:pPr marL="0" indent="0" algn="r">
              <a:buNone/>
            </a:pPr>
            <a:r>
              <a:rPr lang="en-US" sz="2800" b="1" dirty="0">
                <a:solidFill>
                  <a:schemeClr val="accent2"/>
                </a:solidFill>
                <a:latin typeface="+mj-lt" pitchFamily="34" charset="0"/>
                <a:ea typeface="+mj-lt" pitchFamily="34" charset="-122"/>
                <a:cs typeface="+mj-lt" pitchFamily="34" charset="-120"/>
              </a:rPr>
              <a:t>2</a:t>
            </a:r>
            <a:endParaRPr lang="en-US" sz="2800" dirty="0"/>
          </a:p>
        </p:txBody>
      </p:sp>
      <p:sp>
        <p:nvSpPr>
          <p:cNvPr id="14" name="Text 9"/>
          <p:cNvSpPr txBox="1"/>
          <p:nvPr/>
        </p:nvSpPr>
        <p:spPr>
          <a:xfrm>
            <a:off x="2743200" y="2468880"/>
            <a:ext cx="1554480" cy="365760"/>
          </a:xfrm>
          <a:prstGeom prst="rect">
            <a:avLst/>
          </a:prstGeom>
          <a:noFill/>
          <a:ln/>
        </p:spPr>
        <p:txBody>
          <a:bodyPr wrap="square" lIns="0" tIns="0" rIns="0" bIns="0" rtlCol="0" anchor="t"/>
          <a:lstStyle/>
          <a:p>
            <a:pPr marL="0" indent="0" algn="l">
              <a:buNone/>
            </a:pPr>
            <a:r>
              <a:rPr lang="en-US" sz="2000" b="1" dirty="0">
                <a:solidFill>
                  <a:schemeClr val="tx2"/>
                </a:solidFill>
              </a:rPr>
              <a:t>Match</a:t>
            </a:r>
            <a:endParaRPr lang="en-US" sz="2000" dirty="0"/>
          </a:p>
        </p:txBody>
      </p:sp>
      <p:sp>
        <p:nvSpPr>
          <p:cNvPr id="15" name="Text 10"/>
          <p:cNvSpPr txBox="1"/>
          <p:nvPr/>
        </p:nvSpPr>
        <p:spPr>
          <a:xfrm>
            <a:off x="2743200" y="2926080"/>
            <a:ext cx="1554480" cy="1371600"/>
          </a:xfrm>
          <a:prstGeom prst="rect">
            <a:avLst/>
          </a:prstGeom>
          <a:noFill/>
          <a:ln/>
        </p:spPr>
        <p:txBody>
          <a:bodyPr wrap="square" lIns="0" tIns="0" rIns="0" bIns="0" rtlCol="0" anchor="t"/>
          <a:lstStyle/>
          <a:p>
            <a:pPr marL="0" indent="0" algn="l">
              <a:buNone/>
            </a:pPr>
            <a:r>
              <a:rPr lang="en-US" sz="1400" dirty="0">
                <a:solidFill>
                  <a:schemeClr val="tx1"/>
                </a:solidFill>
              </a:rPr>
              <a:t>AI compares meaning, not keywords, and shows a confidence %</a:t>
            </a:r>
            <a:endParaRPr lang="en-US" sz="1400" dirty="0"/>
          </a:p>
        </p:txBody>
      </p:sp>
      <p:sp>
        <p:nvSpPr>
          <p:cNvPr id="16" name="Shape 11"/>
          <p:cNvSpPr/>
          <p:nvPr/>
        </p:nvSpPr>
        <p:spPr>
          <a:xfrm>
            <a:off x="4663440" y="1280160"/>
            <a:ext cx="1920240" cy="3108960"/>
          </a:xfrm>
          <a:prstGeom prst="roundRect">
            <a:avLst>
              <a:gd name="adj" fmla="val 3810"/>
            </a:avLst>
          </a:prstGeom>
          <a:solidFill>
            <a:schemeClr val="bg2"/>
          </a:solidFill>
          <a:ln/>
        </p:spPr>
      </p:sp>
      <p:sp>
        <p:nvSpPr>
          <p:cNvPr id="17" name="Icon circle FaUserCheck"/>
          <p:cNvSpPr/>
          <p:nvPr/>
        </p:nvSpPr>
        <p:spPr>
          <a:xfrm>
            <a:off x="4846320" y="1508760"/>
            <a:ext cx="731520" cy="731520"/>
          </a:xfrm>
          <a:prstGeom prst="ellipse">
            <a:avLst/>
          </a:prstGeom>
          <a:solidFill>
            <a:schemeClr val="tx2"/>
          </a:solidFill>
          <a:ln/>
        </p:spPr>
      </p:sp>
      <p:pic>
        <p:nvPicPr>
          <p:cNvPr id="18" name="Image 2" descr="UserCheck icon"/>
          <p:cNvPicPr>
            <a:picLocks noChangeAspect="1"/>
          </p:cNvPicPr>
          <p:nvPr/>
        </p:nvPicPr>
        <p:blipFill>
          <a:blip r:embed="rId5"/>
          <a:stretch>
            <a:fillRect/>
          </a:stretch>
        </p:blipFill>
        <p:spPr>
          <a:xfrm>
            <a:off x="5029200" y="1691640"/>
            <a:ext cx="365760" cy="365760"/>
          </a:xfrm>
          <a:prstGeom prst="rect">
            <a:avLst/>
          </a:prstGeom>
        </p:spPr>
      </p:pic>
      <p:sp>
        <p:nvSpPr>
          <p:cNvPr id="19" name="Text 13"/>
          <p:cNvSpPr txBox="1"/>
          <p:nvPr/>
        </p:nvSpPr>
        <p:spPr>
          <a:xfrm>
            <a:off x="6035040" y="1554480"/>
            <a:ext cx="365760" cy="457200"/>
          </a:xfrm>
          <a:prstGeom prst="rect">
            <a:avLst/>
          </a:prstGeom>
          <a:noFill/>
          <a:ln/>
        </p:spPr>
        <p:txBody>
          <a:bodyPr wrap="square" lIns="0" tIns="0" rIns="0" bIns="0" rtlCol="0" anchor="t"/>
          <a:lstStyle/>
          <a:p>
            <a:pPr marL="0" indent="0" algn="r">
              <a:buNone/>
            </a:pPr>
            <a:r>
              <a:rPr lang="en-US" sz="2800" b="1" dirty="0">
                <a:solidFill>
                  <a:schemeClr val="accent2"/>
                </a:solidFill>
                <a:latin typeface="+mj-lt" pitchFamily="34" charset="0"/>
                <a:ea typeface="+mj-lt" pitchFamily="34" charset="-122"/>
                <a:cs typeface="+mj-lt" pitchFamily="34" charset="-120"/>
              </a:rPr>
              <a:t>3</a:t>
            </a:r>
            <a:endParaRPr lang="en-US" sz="2800" dirty="0"/>
          </a:p>
        </p:txBody>
      </p:sp>
      <p:sp>
        <p:nvSpPr>
          <p:cNvPr id="20" name="Text 14"/>
          <p:cNvSpPr txBox="1"/>
          <p:nvPr/>
        </p:nvSpPr>
        <p:spPr>
          <a:xfrm>
            <a:off x="4846320" y="2468880"/>
            <a:ext cx="1554480" cy="365760"/>
          </a:xfrm>
          <a:prstGeom prst="rect">
            <a:avLst/>
          </a:prstGeom>
          <a:noFill/>
          <a:ln/>
        </p:spPr>
        <p:txBody>
          <a:bodyPr wrap="square" lIns="0" tIns="0" rIns="0" bIns="0" rtlCol="0" anchor="t"/>
          <a:lstStyle/>
          <a:p>
            <a:pPr marL="0" indent="0" algn="l">
              <a:buNone/>
            </a:pPr>
            <a:r>
              <a:rPr lang="en-US" sz="2000" b="1" dirty="0">
                <a:solidFill>
                  <a:schemeClr val="tx2"/>
                </a:solidFill>
              </a:rPr>
              <a:t>Claim</a:t>
            </a:r>
            <a:endParaRPr lang="en-US" sz="2000" dirty="0"/>
          </a:p>
        </p:txBody>
      </p:sp>
      <p:sp>
        <p:nvSpPr>
          <p:cNvPr id="21" name="Text 15"/>
          <p:cNvSpPr txBox="1"/>
          <p:nvPr/>
        </p:nvSpPr>
        <p:spPr>
          <a:xfrm>
            <a:off x="4846320" y="2926080"/>
            <a:ext cx="1554480" cy="1371600"/>
          </a:xfrm>
          <a:prstGeom prst="rect">
            <a:avLst/>
          </a:prstGeom>
          <a:noFill/>
          <a:ln/>
        </p:spPr>
        <p:txBody>
          <a:bodyPr wrap="square" lIns="0" tIns="0" rIns="0" bIns="0" rtlCol="0" anchor="t"/>
          <a:lstStyle/>
          <a:p>
            <a:pPr marL="0" indent="0" algn="l">
              <a:buNone/>
            </a:pPr>
            <a:r>
              <a:rPr lang="en-US" sz="1400" dirty="0">
                <a:solidFill>
                  <a:schemeClr val="tx1"/>
                </a:solidFill>
              </a:rPr>
              <a:t>Owners verify each claim before anything is handed over</a:t>
            </a:r>
            <a:endParaRPr lang="en-US" sz="1400" dirty="0"/>
          </a:p>
        </p:txBody>
      </p:sp>
      <p:sp>
        <p:nvSpPr>
          <p:cNvPr id="22" name="Shape 16"/>
          <p:cNvSpPr/>
          <p:nvPr/>
        </p:nvSpPr>
        <p:spPr>
          <a:xfrm>
            <a:off x="6766560" y="1280160"/>
            <a:ext cx="1920240" cy="3108960"/>
          </a:xfrm>
          <a:prstGeom prst="roundRect">
            <a:avLst>
              <a:gd name="adj" fmla="val 3810"/>
            </a:avLst>
          </a:prstGeom>
          <a:solidFill>
            <a:schemeClr val="bg2"/>
          </a:solidFill>
          <a:ln/>
        </p:spPr>
      </p:sp>
      <p:sp>
        <p:nvSpPr>
          <p:cNvPr id="23" name="Icon circle FaBell"/>
          <p:cNvSpPr/>
          <p:nvPr/>
        </p:nvSpPr>
        <p:spPr>
          <a:xfrm>
            <a:off x="6949440" y="1508760"/>
            <a:ext cx="731520" cy="731520"/>
          </a:xfrm>
          <a:prstGeom prst="ellipse">
            <a:avLst/>
          </a:prstGeom>
          <a:solidFill>
            <a:schemeClr val="accent1"/>
          </a:solidFill>
          <a:ln/>
        </p:spPr>
      </p:sp>
      <p:pic>
        <p:nvPicPr>
          <p:cNvPr id="24" name="Image 3" descr="Bell icon"/>
          <p:cNvPicPr>
            <a:picLocks noChangeAspect="1"/>
          </p:cNvPicPr>
          <p:nvPr/>
        </p:nvPicPr>
        <p:blipFill>
          <a:blip r:embed="rId6"/>
          <a:stretch>
            <a:fillRect/>
          </a:stretch>
        </p:blipFill>
        <p:spPr>
          <a:xfrm>
            <a:off x="7132320" y="1691640"/>
            <a:ext cx="365760" cy="365760"/>
          </a:xfrm>
          <a:prstGeom prst="rect">
            <a:avLst/>
          </a:prstGeom>
        </p:spPr>
      </p:pic>
      <p:sp>
        <p:nvSpPr>
          <p:cNvPr id="25" name="Text 18"/>
          <p:cNvSpPr txBox="1"/>
          <p:nvPr/>
        </p:nvSpPr>
        <p:spPr>
          <a:xfrm>
            <a:off x="8138160" y="1554480"/>
            <a:ext cx="365760" cy="457200"/>
          </a:xfrm>
          <a:prstGeom prst="rect">
            <a:avLst/>
          </a:prstGeom>
          <a:noFill/>
          <a:ln/>
        </p:spPr>
        <p:txBody>
          <a:bodyPr wrap="square" lIns="0" tIns="0" rIns="0" bIns="0" rtlCol="0" anchor="t"/>
          <a:lstStyle/>
          <a:p>
            <a:pPr marL="0" indent="0" algn="r">
              <a:buNone/>
            </a:pPr>
            <a:r>
              <a:rPr lang="en-US" sz="2800" b="1" dirty="0">
                <a:solidFill>
                  <a:schemeClr val="accent2"/>
                </a:solidFill>
                <a:latin typeface="+mj-lt" pitchFamily="34" charset="0"/>
                <a:ea typeface="+mj-lt" pitchFamily="34" charset="-122"/>
                <a:cs typeface="+mj-lt" pitchFamily="34" charset="-120"/>
              </a:rPr>
              <a:t>4</a:t>
            </a:r>
            <a:endParaRPr lang="en-US" sz="2800" dirty="0"/>
          </a:p>
        </p:txBody>
      </p:sp>
      <p:sp>
        <p:nvSpPr>
          <p:cNvPr id="26" name="Text 19"/>
          <p:cNvSpPr txBox="1"/>
          <p:nvPr/>
        </p:nvSpPr>
        <p:spPr>
          <a:xfrm>
            <a:off x="6949440" y="2468880"/>
            <a:ext cx="1554480" cy="365760"/>
          </a:xfrm>
          <a:prstGeom prst="rect">
            <a:avLst/>
          </a:prstGeom>
          <a:noFill/>
          <a:ln/>
        </p:spPr>
        <p:txBody>
          <a:bodyPr wrap="square" lIns="0" tIns="0" rIns="0" bIns="0" rtlCol="0" anchor="t"/>
          <a:lstStyle/>
          <a:p>
            <a:pPr marL="0" indent="0" algn="l">
              <a:buNone/>
            </a:pPr>
            <a:r>
              <a:rPr lang="en-US" sz="2000" b="1" dirty="0">
                <a:solidFill>
                  <a:schemeClr val="tx2"/>
                </a:solidFill>
              </a:rPr>
              <a:t>Notify</a:t>
            </a:r>
            <a:endParaRPr lang="en-US" sz="2000" dirty="0"/>
          </a:p>
        </p:txBody>
      </p:sp>
      <p:sp>
        <p:nvSpPr>
          <p:cNvPr id="27" name="Text 20"/>
          <p:cNvSpPr txBox="1"/>
          <p:nvPr/>
        </p:nvSpPr>
        <p:spPr>
          <a:xfrm>
            <a:off x="6949440" y="2926080"/>
            <a:ext cx="1554480" cy="1371600"/>
          </a:xfrm>
          <a:prstGeom prst="rect">
            <a:avLst/>
          </a:prstGeom>
          <a:noFill/>
          <a:ln/>
        </p:spPr>
        <p:txBody>
          <a:bodyPr wrap="square" lIns="0" tIns="0" rIns="0" bIns="0" rtlCol="0" anchor="t"/>
          <a:lstStyle/>
          <a:p>
            <a:pPr marL="0" indent="0" algn="l">
              <a:buNone/>
            </a:pPr>
            <a:r>
              <a:rPr lang="en-US" sz="1400" dirty="0">
                <a:solidFill>
                  <a:schemeClr val="tx1"/>
                </a:solidFill>
              </a:rPr>
              <a:t>Instant toasts when a claim arrives or is approved</a:t>
            </a:r>
            <a:endParaRPr lang="en-US" sz="1400" dirty="0"/>
          </a:p>
        </p:txBody>
      </p:sp>
      <p:sp>
        <p:nvSpPr>
          <p:cNvPr id="3"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320040"/>
            <a:ext cx="8229600" cy="731520"/>
          </a:xfrm>
          <a:prstGeom prst="rect">
            <a:avLst/>
          </a:prstGeom>
          <a:noFill/>
          <a:ln/>
        </p:spPr>
        <p:txBody>
          <a:bodyPr wrap="square" lIns="0" tIns="0" rIns="0" bIns="0" rtlCol="0" anchor="ctr"/>
          <a:lstStyle/>
          <a:p>
            <a:pPr marL="0" indent="0" algn="l">
              <a:buNone/>
            </a:pPr>
            <a:r>
              <a:rPr lang="en-US" sz="3400" b="1" dirty="0">
                <a:solidFill>
                  <a:schemeClr val="tx2"/>
                </a:solidFill>
              </a:rPr>
              <a:t>Tech stack</a:t>
            </a:r>
            <a:endParaRPr lang="en-US" sz="3400" dirty="0"/>
          </a:p>
        </p:txBody>
      </p:sp>
      <p:sp>
        <p:nvSpPr>
          <p:cNvPr id="4" name="Shape 1"/>
          <p:cNvSpPr/>
          <p:nvPr/>
        </p:nvSpPr>
        <p:spPr>
          <a:xfrm>
            <a:off x="457200" y="1280160"/>
            <a:ext cx="1883664" cy="3200400"/>
          </a:xfrm>
          <a:prstGeom prst="roundRect">
            <a:avLst>
              <a:gd name="adj" fmla="val 3883"/>
            </a:avLst>
          </a:prstGeom>
          <a:solidFill>
            <a:schemeClr val="bg2"/>
          </a:solidFill>
          <a:ln/>
        </p:spPr>
      </p:sp>
      <p:sp>
        <p:nvSpPr>
          <p:cNvPr id="5" name="Frontend header"/>
          <p:cNvSpPr/>
          <p:nvPr/>
        </p:nvSpPr>
        <p:spPr>
          <a:xfrm>
            <a:off x="457200" y="1280160"/>
            <a:ext cx="1883664" cy="548640"/>
          </a:xfrm>
          <a:prstGeom prst="roundRect">
            <a:avLst>
              <a:gd name="adj" fmla="val 13333"/>
            </a:avLst>
          </a:prstGeom>
          <a:solidFill>
            <a:schemeClr val="accent1"/>
          </a:solidFill>
          <a:ln/>
        </p:spPr>
      </p:sp>
      <p:sp>
        <p:nvSpPr>
          <p:cNvPr id="6" name="Text 3"/>
          <p:cNvSpPr txBox="1"/>
          <p:nvPr/>
        </p:nvSpPr>
        <p:spPr>
          <a:xfrm>
            <a:off x="594360" y="1280160"/>
            <a:ext cx="1645920" cy="548640"/>
          </a:xfrm>
          <a:prstGeom prst="rect">
            <a:avLst/>
          </a:prstGeom>
          <a:noFill/>
          <a:ln/>
        </p:spPr>
        <p:txBody>
          <a:bodyPr wrap="square" lIns="0" tIns="0" rIns="0" bIns="0" rtlCol="0" anchor="ctr"/>
          <a:lstStyle/>
          <a:p>
            <a:pPr marL="0" indent="0" algn="l">
              <a:buNone/>
            </a:pPr>
            <a:r>
              <a:rPr lang="en-US" sz="1800" b="1" dirty="0">
                <a:solidFill>
                  <a:schemeClr val="bg1"/>
                </a:solidFill>
              </a:rPr>
              <a:t>Frontend</a:t>
            </a:r>
            <a:endParaRPr lang="en-US" sz="1800" dirty="0"/>
          </a:p>
        </p:txBody>
      </p:sp>
      <p:sp>
        <p:nvSpPr>
          <p:cNvPr id="7" name="Text 4"/>
          <p:cNvSpPr txBox="1"/>
          <p:nvPr/>
        </p:nvSpPr>
        <p:spPr>
          <a:xfrm>
            <a:off x="594360" y="2011680"/>
            <a:ext cx="1645920" cy="2331720"/>
          </a:xfrm>
          <a:prstGeom prst="rect">
            <a:avLst/>
          </a:prstGeom>
          <a:noFill/>
          <a:ln/>
        </p:spPr>
        <p:txBody>
          <a:bodyPr wrap="square" lIns="0" tIns="0" rIns="0" bIns="0" rtlCol="0" anchor="t"/>
          <a:lstStyle/>
          <a:p>
            <a:pPr marL="342900" indent="-342900" algn="l">
              <a:spcAft>
                <a:spcPts val="800"/>
              </a:spcAft>
              <a:buSzPct val="100000"/>
              <a:buChar char="•"/>
            </a:pPr>
            <a:r>
              <a:rPr lang="en-US" sz="1400" dirty="0">
                <a:solidFill>
                  <a:schemeClr val="tx1"/>
                </a:solidFill>
              </a:rPr>
              <a:t>React 19</a:t>
            </a:r>
            <a:endParaRPr lang="en-US" sz="1400" dirty="0"/>
          </a:p>
          <a:p>
            <a:pPr marL="342900" indent="-342900" algn="l">
              <a:spcAft>
                <a:spcPts val="800"/>
              </a:spcAft>
              <a:buSzPct val="100000"/>
              <a:buChar char="•"/>
            </a:pPr>
            <a:r>
              <a:rPr lang="en-US" sz="1400" dirty="0">
                <a:solidFill>
                  <a:schemeClr val="tx1"/>
                </a:solidFill>
              </a:rPr>
              <a:t>TypeScript</a:t>
            </a:r>
            <a:endParaRPr lang="en-US" sz="1400" dirty="0"/>
          </a:p>
          <a:p>
            <a:pPr marL="342900" indent="-342900" algn="l">
              <a:spcAft>
                <a:spcPts val="800"/>
              </a:spcAft>
              <a:buSzPct val="100000"/>
              <a:buChar char="•"/>
            </a:pPr>
            <a:r>
              <a:rPr lang="en-US" sz="1400" dirty="0">
                <a:solidFill>
                  <a:schemeClr val="tx1"/>
                </a:solidFill>
              </a:rPr>
              <a:t>Vite</a:t>
            </a:r>
            <a:endParaRPr lang="en-US" sz="1400" dirty="0"/>
          </a:p>
          <a:p>
            <a:pPr marL="342900" indent="-342900" algn="l">
              <a:spcAft>
                <a:spcPts val="800"/>
              </a:spcAft>
              <a:buSzPct val="100000"/>
              <a:buChar char="•"/>
            </a:pPr>
            <a:r>
              <a:rPr lang="en-US" sz="1400" dirty="0">
                <a:solidFill>
                  <a:schemeClr val="tx1"/>
                </a:solidFill>
              </a:rPr>
              <a:t>Tailwind CSS</a:t>
            </a:r>
            <a:endParaRPr lang="en-US" sz="1400" dirty="0"/>
          </a:p>
          <a:p>
            <a:pPr marL="342900" indent="-342900" algn="l">
              <a:spcAft>
                <a:spcPts val="800"/>
              </a:spcAft>
              <a:buSzPct val="100000"/>
              <a:buChar char="•"/>
            </a:pPr>
            <a:r>
              <a:rPr lang="en-US" sz="1400" dirty="0">
                <a:solidFill>
                  <a:schemeClr val="tx1"/>
                </a:solidFill>
              </a:rPr>
              <a:t>React Router</a:t>
            </a:r>
            <a:endParaRPr lang="en-US" sz="1400" dirty="0"/>
          </a:p>
          <a:p>
            <a:pPr marL="342900" indent="-342900" algn="l">
              <a:spcAft>
                <a:spcPts val="800"/>
              </a:spcAft>
              <a:buSzPct val="100000"/>
              <a:buChar char="•"/>
            </a:pPr>
            <a:r>
              <a:rPr lang="en-US" sz="1400" dirty="0">
                <a:solidFill>
                  <a:schemeClr val="tx1"/>
                </a:solidFill>
              </a:rPr>
              <a:t>Leaflet maps</a:t>
            </a:r>
            <a:endParaRPr lang="en-US" sz="1400" dirty="0"/>
          </a:p>
        </p:txBody>
      </p:sp>
      <p:sp>
        <p:nvSpPr>
          <p:cNvPr id="8" name="Shape 5"/>
          <p:cNvSpPr/>
          <p:nvPr/>
        </p:nvSpPr>
        <p:spPr>
          <a:xfrm>
            <a:off x="2569464" y="1280160"/>
            <a:ext cx="1883664" cy="3200400"/>
          </a:xfrm>
          <a:prstGeom prst="roundRect">
            <a:avLst>
              <a:gd name="adj" fmla="val 3883"/>
            </a:avLst>
          </a:prstGeom>
          <a:solidFill>
            <a:schemeClr val="bg2"/>
          </a:solidFill>
          <a:ln/>
        </p:spPr>
      </p:sp>
      <p:sp>
        <p:nvSpPr>
          <p:cNvPr id="9" name="Backend header"/>
          <p:cNvSpPr/>
          <p:nvPr/>
        </p:nvSpPr>
        <p:spPr>
          <a:xfrm>
            <a:off x="2569464" y="1280160"/>
            <a:ext cx="1883664" cy="548640"/>
          </a:xfrm>
          <a:prstGeom prst="roundRect">
            <a:avLst>
              <a:gd name="adj" fmla="val 13333"/>
            </a:avLst>
          </a:prstGeom>
          <a:solidFill>
            <a:schemeClr val="tx2"/>
          </a:solidFill>
          <a:ln/>
        </p:spPr>
      </p:sp>
      <p:sp>
        <p:nvSpPr>
          <p:cNvPr id="10" name="Text 7"/>
          <p:cNvSpPr txBox="1"/>
          <p:nvPr/>
        </p:nvSpPr>
        <p:spPr>
          <a:xfrm>
            <a:off x="2706624" y="1280160"/>
            <a:ext cx="1645920" cy="548640"/>
          </a:xfrm>
          <a:prstGeom prst="rect">
            <a:avLst/>
          </a:prstGeom>
          <a:noFill/>
          <a:ln/>
        </p:spPr>
        <p:txBody>
          <a:bodyPr wrap="square" lIns="0" tIns="0" rIns="0" bIns="0" rtlCol="0" anchor="ctr"/>
          <a:lstStyle/>
          <a:p>
            <a:pPr marL="0" indent="0" algn="l">
              <a:buNone/>
            </a:pPr>
            <a:r>
              <a:rPr lang="en-US" sz="1800" b="1" dirty="0">
                <a:solidFill>
                  <a:schemeClr val="bg1"/>
                </a:solidFill>
              </a:rPr>
              <a:t>Backend</a:t>
            </a:r>
            <a:endParaRPr lang="en-US" sz="1800" dirty="0"/>
          </a:p>
        </p:txBody>
      </p:sp>
      <p:sp>
        <p:nvSpPr>
          <p:cNvPr id="11" name="Text 8"/>
          <p:cNvSpPr txBox="1"/>
          <p:nvPr/>
        </p:nvSpPr>
        <p:spPr>
          <a:xfrm>
            <a:off x="2706624" y="2011680"/>
            <a:ext cx="1645920" cy="2331720"/>
          </a:xfrm>
          <a:prstGeom prst="rect">
            <a:avLst/>
          </a:prstGeom>
          <a:noFill/>
          <a:ln/>
        </p:spPr>
        <p:txBody>
          <a:bodyPr wrap="square" lIns="0" tIns="0" rIns="0" bIns="0" rtlCol="0" anchor="t"/>
          <a:lstStyle/>
          <a:p>
            <a:pPr marL="342900" indent="-342900" algn="l">
              <a:spcAft>
                <a:spcPts val="800"/>
              </a:spcAft>
              <a:buSzPct val="100000"/>
              <a:buChar char="•"/>
            </a:pPr>
            <a:r>
              <a:rPr lang="en-US" sz="1400" dirty="0">
                <a:solidFill>
                  <a:schemeClr val="tx1"/>
                </a:solidFill>
              </a:rPr>
              <a:t>Node + Express</a:t>
            </a:r>
            <a:endParaRPr lang="en-US" sz="1400" dirty="0"/>
          </a:p>
          <a:p>
            <a:pPr marL="342900" indent="-342900" algn="l">
              <a:spcAft>
                <a:spcPts val="800"/>
              </a:spcAft>
              <a:buSzPct val="100000"/>
              <a:buChar char="•"/>
            </a:pPr>
            <a:r>
              <a:rPr lang="en-US" sz="1400" dirty="0">
                <a:solidFill>
                  <a:schemeClr val="tx1"/>
                </a:solidFill>
              </a:rPr>
              <a:t>TypeScript</a:t>
            </a:r>
            <a:endParaRPr lang="en-US" sz="1400" dirty="0"/>
          </a:p>
          <a:p>
            <a:pPr marL="342900" indent="-342900" algn="l">
              <a:spcAft>
                <a:spcPts val="800"/>
              </a:spcAft>
              <a:buSzPct val="100000"/>
              <a:buChar char="•"/>
            </a:pPr>
            <a:r>
              <a:rPr lang="en-US" sz="1400" dirty="0">
                <a:solidFill>
                  <a:schemeClr val="tx1"/>
                </a:solidFill>
              </a:rPr>
              <a:t>Prisma ORM</a:t>
            </a:r>
            <a:endParaRPr lang="en-US" sz="1400" dirty="0"/>
          </a:p>
          <a:p>
            <a:pPr marL="342900" indent="-342900" algn="l">
              <a:spcAft>
                <a:spcPts val="800"/>
              </a:spcAft>
              <a:buSzPct val="100000"/>
              <a:buChar char="•"/>
            </a:pPr>
            <a:r>
              <a:rPr lang="en-US" sz="1400" dirty="0">
                <a:solidFill>
                  <a:schemeClr val="tx1"/>
                </a:solidFill>
              </a:rPr>
              <a:t>JWT + bcrypt</a:t>
            </a:r>
            <a:endParaRPr lang="en-US" sz="1400" dirty="0"/>
          </a:p>
          <a:p>
            <a:pPr marL="342900" indent="-342900" algn="l">
              <a:spcAft>
                <a:spcPts val="800"/>
              </a:spcAft>
              <a:buSzPct val="100000"/>
              <a:buChar char="•"/>
            </a:pPr>
            <a:r>
              <a:rPr lang="en-US" sz="1400" dirty="0">
                <a:solidFill>
                  <a:schemeClr val="tx1"/>
                </a:solidFill>
              </a:rPr>
              <a:t>Socket.IO</a:t>
            </a:r>
            <a:endParaRPr lang="en-US" sz="1400" dirty="0"/>
          </a:p>
        </p:txBody>
      </p:sp>
      <p:sp>
        <p:nvSpPr>
          <p:cNvPr id="12" name="Shape 9"/>
          <p:cNvSpPr/>
          <p:nvPr/>
        </p:nvSpPr>
        <p:spPr>
          <a:xfrm>
            <a:off x="4681728" y="1280160"/>
            <a:ext cx="1883664" cy="3200400"/>
          </a:xfrm>
          <a:prstGeom prst="roundRect">
            <a:avLst>
              <a:gd name="adj" fmla="val 3883"/>
            </a:avLst>
          </a:prstGeom>
          <a:solidFill>
            <a:schemeClr val="bg2"/>
          </a:solidFill>
          <a:ln/>
        </p:spPr>
      </p:sp>
      <p:sp>
        <p:nvSpPr>
          <p:cNvPr id="13" name="AI / ML header"/>
          <p:cNvSpPr/>
          <p:nvPr/>
        </p:nvSpPr>
        <p:spPr>
          <a:xfrm>
            <a:off x="4681728" y="1280160"/>
            <a:ext cx="1883664" cy="548640"/>
          </a:xfrm>
          <a:prstGeom prst="roundRect">
            <a:avLst>
              <a:gd name="adj" fmla="val 13333"/>
            </a:avLst>
          </a:prstGeom>
          <a:solidFill>
            <a:schemeClr val="accent3"/>
          </a:solidFill>
          <a:ln/>
        </p:spPr>
      </p:sp>
      <p:sp>
        <p:nvSpPr>
          <p:cNvPr id="14" name="Text 11"/>
          <p:cNvSpPr txBox="1"/>
          <p:nvPr/>
        </p:nvSpPr>
        <p:spPr>
          <a:xfrm>
            <a:off x="4818888" y="1280160"/>
            <a:ext cx="1645920" cy="548640"/>
          </a:xfrm>
          <a:prstGeom prst="rect">
            <a:avLst/>
          </a:prstGeom>
          <a:noFill/>
          <a:ln/>
        </p:spPr>
        <p:txBody>
          <a:bodyPr wrap="square" lIns="0" tIns="0" rIns="0" bIns="0" rtlCol="0" anchor="ctr"/>
          <a:lstStyle/>
          <a:p>
            <a:pPr marL="0" indent="0" algn="l">
              <a:buNone/>
            </a:pPr>
            <a:r>
              <a:rPr lang="en-US" sz="1800" b="1" dirty="0">
                <a:solidFill>
                  <a:schemeClr val="bg1"/>
                </a:solidFill>
              </a:rPr>
              <a:t>AI / ML</a:t>
            </a:r>
            <a:endParaRPr lang="en-US" sz="1800" dirty="0"/>
          </a:p>
        </p:txBody>
      </p:sp>
      <p:sp>
        <p:nvSpPr>
          <p:cNvPr id="15" name="Text 12"/>
          <p:cNvSpPr txBox="1"/>
          <p:nvPr/>
        </p:nvSpPr>
        <p:spPr>
          <a:xfrm>
            <a:off x="4818888" y="2011680"/>
            <a:ext cx="1645920" cy="2331720"/>
          </a:xfrm>
          <a:prstGeom prst="rect">
            <a:avLst/>
          </a:prstGeom>
          <a:noFill/>
          <a:ln/>
        </p:spPr>
        <p:txBody>
          <a:bodyPr wrap="square" lIns="0" tIns="0" rIns="0" bIns="0" rtlCol="0" anchor="t"/>
          <a:lstStyle/>
          <a:p>
            <a:pPr marL="342900" indent="-342900" algn="l">
              <a:spcAft>
                <a:spcPts val="800"/>
              </a:spcAft>
              <a:buSzPct val="100000"/>
              <a:buChar char="•"/>
            </a:pPr>
            <a:r>
              <a:rPr lang="en-US" sz="1400" dirty="0">
                <a:solidFill>
                  <a:schemeClr val="tx1"/>
                </a:solidFill>
              </a:rPr>
              <a:t>gte-small model</a:t>
            </a:r>
            <a:endParaRPr lang="en-US" sz="1400" dirty="0"/>
          </a:p>
          <a:p>
            <a:pPr marL="342900" indent="-342900" algn="l">
              <a:spcAft>
                <a:spcPts val="800"/>
              </a:spcAft>
              <a:buSzPct val="100000"/>
              <a:buChar char="•"/>
            </a:pPr>
            <a:r>
              <a:rPr lang="en-US" sz="1400" dirty="0">
                <a:solidFill>
                  <a:schemeClr val="tx1"/>
                </a:solidFill>
              </a:rPr>
              <a:t>384-dim vectors</a:t>
            </a:r>
            <a:endParaRPr lang="en-US" sz="1400" dirty="0"/>
          </a:p>
          <a:p>
            <a:pPr marL="342900" indent="-342900" algn="l">
              <a:spcAft>
                <a:spcPts val="800"/>
              </a:spcAft>
              <a:buSzPct val="100000"/>
              <a:buChar char="•"/>
            </a:pPr>
            <a:r>
              <a:rPr lang="en-US" sz="1400" dirty="0">
                <a:solidFill>
                  <a:schemeClr val="tx1"/>
                </a:solidFill>
              </a:rPr>
              <a:t>Supabase Edge Fn</a:t>
            </a:r>
            <a:endParaRPr lang="en-US" sz="1400" dirty="0"/>
          </a:p>
          <a:p>
            <a:pPr marL="342900" indent="-342900" algn="l">
              <a:spcAft>
                <a:spcPts val="800"/>
              </a:spcAft>
              <a:buSzPct val="100000"/>
              <a:buChar char="•"/>
            </a:pPr>
            <a:r>
              <a:rPr lang="en-US" sz="1400" dirty="0">
                <a:solidFill>
                  <a:schemeClr val="tx1"/>
                </a:solidFill>
              </a:rPr>
              <a:t>Deno runtime</a:t>
            </a:r>
            <a:endParaRPr lang="en-US" sz="1400" dirty="0"/>
          </a:p>
          <a:p>
            <a:pPr marL="342900" indent="-342900" algn="l">
              <a:spcAft>
                <a:spcPts val="800"/>
              </a:spcAft>
              <a:buSzPct val="100000"/>
              <a:buChar char="•"/>
            </a:pPr>
            <a:r>
              <a:rPr lang="en-US" sz="1400" dirty="0">
                <a:solidFill>
                  <a:schemeClr val="tx1"/>
                </a:solidFill>
              </a:rPr>
              <a:t>Cosine similarity</a:t>
            </a:r>
            <a:endParaRPr lang="en-US" sz="1400" dirty="0"/>
          </a:p>
        </p:txBody>
      </p:sp>
      <p:sp>
        <p:nvSpPr>
          <p:cNvPr id="16" name="Shape 13"/>
          <p:cNvSpPr/>
          <p:nvPr/>
        </p:nvSpPr>
        <p:spPr>
          <a:xfrm>
            <a:off x="6793992" y="1280160"/>
            <a:ext cx="1883664" cy="3200400"/>
          </a:xfrm>
          <a:prstGeom prst="roundRect">
            <a:avLst>
              <a:gd name="adj" fmla="val 3883"/>
            </a:avLst>
          </a:prstGeom>
          <a:solidFill>
            <a:schemeClr val="bg2"/>
          </a:solidFill>
          <a:ln/>
        </p:spPr>
      </p:sp>
      <p:sp>
        <p:nvSpPr>
          <p:cNvPr id="17" name="Data header"/>
          <p:cNvSpPr/>
          <p:nvPr/>
        </p:nvSpPr>
        <p:spPr>
          <a:xfrm>
            <a:off x="6793992" y="1280160"/>
            <a:ext cx="1883664" cy="548640"/>
          </a:xfrm>
          <a:prstGeom prst="roundRect">
            <a:avLst>
              <a:gd name="adj" fmla="val 13333"/>
            </a:avLst>
          </a:prstGeom>
          <a:solidFill>
            <a:schemeClr val="accent5"/>
          </a:solidFill>
          <a:ln/>
        </p:spPr>
      </p:sp>
      <p:sp>
        <p:nvSpPr>
          <p:cNvPr id="18" name="Text 15"/>
          <p:cNvSpPr txBox="1"/>
          <p:nvPr/>
        </p:nvSpPr>
        <p:spPr>
          <a:xfrm>
            <a:off x="6931152" y="1280160"/>
            <a:ext cx="1645920" cy="548640"/>
          </a:xfrm>
          <a:prstGeom prst="rect">
            <a:avLst/>
          </a:prstGeom>
          <a:noFill/>
          <a:ln/>
        </p:spPr>
        <p:txBody>
          <a:bodyPr wrap="square" lIns="0" tIns="0" rIns="0" bIns="0" rtlCol="0" anchor="ctr"/>
          <a:lstStyle/>
          <a:p>
            <a:pPr marL="0" indent="0" algn="l">
              <a:buNone/>
            </a:pPr>
            <a:r>
              <a:rPr lang="en-US" sz="1800" b="1" dirty="0">
                <a:solidFill>
                  <a:schemeClr val="bg1"/>
                </a:solidFill>
              </a:rPr>
              <a:t>Data</a:t>
            </a:r>
            <a:endParaRPr lang="en-US" sz="1800" dirty="0"/>
          </a:p>
        </p:txBody>
      </p:sp>
      <p:sp>
        <p:nvSpPr>
          <p:cNvPr id="19" name="Text 16"/>
          <p:cNvSpPr txBox="1"/>
          <p:nvPr/>
        </p:nvSpPr>
        <p:spPr>
          <a:xfrm>
            <a:off x="6931152" y="2011680"/>
            <a:ext cx="1645920" cy="2331720"/>
          </a:xfrm>
          <a:prstGeom prst="rect">
            <a:avLst/>
          </a:prstGeom>
          <a:noFill/>
          <a:ln/>
        </p:spPr>
        <p:txBody>
          <a:bodyPr wrap="square" lIns="0" tIns="0" rIns="0" bIns="0" rtlCol="0" anchor="t"/>
          <a:lstStyle/>
          <a:p>
            <a:pPr marL="342900" indent="-342900" algn="l">
              <a:spcAft>
                <a:spcPts val="800"/>
              </a:spcAft>
              <a:buSzPct val="100000"/>
              <a:buChar char="•"/>
            </a:pPr>
            <a:r>
              <a:rPr lang="en-US" sz="1400" dirty="0">
                <a:solidFill>
                  <a:schemeClr val="tx1"/>
                </a:solidFill>
              </a:rPr>
              <a:t>PostgreSQL</a:t>
            </a:r>
            <a:endParaRPr lang="en-US" sz="1400" dirty="0"/>
          </a:p>
          <a:p>
            <a:pPr marL="342900" indent="-342900" algn="l">
              <a:spcAft>
                <a:spcPts val="800"/>
              </a:spcAft>
              <a:buSzPct val="100000"/>
              <a:buChar char="•"/>
            </a:pPr>
            <a:r>
              <a:rPr lang="en-US" sz="1400" dirty="0">
                <a:solidFill>
                  <a:schemeClr val="tx1"/>
                </a:solidFill>
              </a:rPr>
              <a:t>pgvector</a:t>
            </a:r>
            <a:endParaRPr lang="en-US" sz="1400" dirty="0"/>
          </a:p>
          <a:p>
            <a:pPr marL="342900" indent="-342900" algn="l">
              <a:spcAft>
                <a:spcPts val="800"/>
              </a:spcAft>
              <a:buSzPct val="100000"/>
              <a:buChar char="•"/>
            </a:pPr>
            <a:r>
              <a:rPr lang="en-US" sz="1400" dirty="0">
                <a:solidFill>
                  <a:schemeClr val="tx1"/>
                </a:solidFill>
              </a:rPr>
              <a:t>Supabase Storage</a:t>
            </a:r>
            <a:endParaRPr lang="en-US" sz="1400" dirty="0"/>
          </a:p>
          <a:p>
            <a:pPr marL="342900" indent="-342900" algn="l">
              <a:spcAft>
                <a:spcPts val="800"/>
              </a:spcAft>
              <a:buSzPct val="100000"/>
              <a:buChar char="•"/>
            </a:pPr>
            <a:r>
              <a:rPr lang="en-US" sz="1400" dirty="0">
                <a:solidFill>
                  <a:schemeClr val="tx1"/>
                </a:solidFill>
              </a:rPr>
              <a:t>Supabase hosting</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320040"/>
            <a:ext cx="8229600" cy="731520"/>
          </a:xfrm>
          <a:prstGeom prst="rect">
            <a:avLst/>
          </a:prstGeom>
          <a:noFill/>
          <a:ln/>
        </p:spPr>
        <p:txBody>
          <a:bodyPr wrap="square" lIns="0" tIns="0" rIns="0" bIns="0" rtlCol="0" anchor="ctr"/>
          <a:lstStyle/>
          <a:p>
            <a:pPr marL="0" indent="0" algn="l">
              <a:buNone/>
            </a:pPr>
            <a:r>
              <a:rPr lang="en-US" sz="3400" b="1" dirty="0">
                <a:solidFill>
                  <a:schemeClr val="tx2"/>
                </a:solidFill>
              </a:rPr>
              <a:t>Architecture</a:t>
            </a:r>
            <a:endParaRPr lang="en-US" sz="3400" dirty="0"/>
          </a:p>
        </p:txBody>
      </p:sp>
      <p:sp>
        <p:nvSpPr>
          <p:cNvPr id="4" name="React + Vite"/>
          <p:cNvSpPr/>
          <p:nvPr/>
        </p:nvSpPr>
        <p:spPr>
          <a:xfrm>
            <a:off x="457200" y="1371600"/>
            <a:ext cx="1920240" cy="1005840"/>
          </a:xfrm>
          <a:prstGeom prst="roundRect">
            <a:avLst>
              <a:gd name="adj" fmla="val 9091"/>
            </a:avLst>
          </a:prstGeom>
          <a:solidFill>
            <a:schemeClr val="accent1"/>
          </a:solidFill>
          <a:ln/>
        </p:spPr>
      </p:sp>
      <p:sp>
        <p:nvSpPr>
          <p:cNvPr id="5" name="Text 2"/>
          <p:cNvSpPr txBox="1"/>
          <p:nvPr/>
        </p:nvSpPr>
        <p:spPr>
          <a:xfrm>
            <a:off x="457200" y="1371600"/>
            <a:ext cx="1920240" cy="1005840"/>
          </a:xfrm>
          <a:prstGeom prst="rect">
            <a:avLst/>
          </a:prstGeom>
          <a:noFill/>
          <a:ln/>
        </p:spPr>
        <p:txBody>
          <a:bodyPr wrap="square" lIns="0" tIns="0" rIns="0" bIns="0" rtlCol="0" anchor="ctr"/>
          <a:lstStyle/>
          <a:p>
            <a:pPr marL="0" indent="0" algn="ctr">
              <a:buNone/>
            </a:pPr>
            <a:r>
              <a:rPr lang="en-US" sz="1600" b="1" dirty="0">
                <a:solidFill>
                  <a:schemeClr val="bg1"/>
                </a:solidFill>
              </a:rPr>
              <a:t>React + Vite</a:t>
            </a:r>
            <a:endParaRPr lang="en-US" sz="1400" dirty="0"/>
          </a:p>
          <a:p>
            <a:pPr marL="0" indent="0" algn="ctr">
              <a:buNone/>
            </a:pPr>
            <a:r>
              <a:rPr lang="en-US" sz="1200" dirty="0">
                <a:solidFill>
                  <a:schemeClr val="bg1"/>
                </a:solidFill>
              </a:rPr>
              <a:t>Frontend</a:t>
            </a:r>
            <a:endParaRPr lang="en-US" sz="1400" dirty="0"/>
          </a:p>
        </p:txBody>
      </p:sp>
      <p:sp>
        <p:nvSpPr>
          <p:cNvPr id="6" name="Express API"/>
          <p:cNvSpPr/>
          <p:nvPr/>
        </p:nvSpPr>
        <p:spPr>
          <a:xfrm>
            <a:off x="3383280" y="1371600"/>
            <a:ext cx="1920240" cy="1005840"/>
          </a:xfrm>
          <a:prstGeom prst="roundRect">
            <a:avLst>
              <a:gd name="adj" fmla="val 9091"/>
            </a:avLst>
          </a:prstGeom>
          <a:solidFill>
            <a:schemeClr val="tx2"/>
          </a:solidFill>
          <a:ln/>
        </p:spPr>
      </p:sp>
      <p:sp>
        <p:nvSpPr>
          <p:cNvPr id="7" name="Text 4"/>
          <p:cNvSpPr txBox="1"/>
          <p:nvPr/>
        </p:nvSpPr>
        <p:spPr>
          <a:xfrm>
            <a:off x="3383280" y="1371600"/>
            <a:ext cx="1920240" cy="1005840"/>
          </a:xfrm>
          <a:prstGeom prst="rect">
            <a:avLst/>
          </a:prstGeom>
          <a:noFill/>
          <a:ln/>
        </p:spPr>
        <p:txBody>
          <a:bodyPr wrap="square" lIns="0" tIns="0" rIns="0" bIns="0" rtlCol="0" anchor="ctr"/>
          <a:lstStyle/>
          <a:p>
            <a:pPr marL="0" indent="0" algn="ctr">
              <a:buNone/>
            </a:pPr>
            <a:r>
              <a:rPr lang="en-US" sz="1600" b="1" dirty="0">
                <a:solidFill>
                  <a:schemeClr val="bg1"/>
                </a:solidFill>
              </a:rPr>
              <a:t>Express API</a:t>
            </a:r>
            <a:endParaRPr lang="en-US" sz="1400" dirty="0"/>
          </a:p>
          <a:p>
            <a:pPr marL="0" indent="0" algn="ctr">
              <a:buNone/>
            </a:pPr>
            <a:r>
              <a:rPr lang="en-US" sz="1200" dirty="0">
                <a:solidFill>
                  <a:schemeClr val="bg1"/>
                </a:solidFill>
              </a:rPr>
              <a:t>Node + Prisma</a:t>
            </a:r>
            <a:endParaRPr lang="en-US" sz="1400" dirty="0"/>
          </a:p>
        </p:txBody>
      </p:sp>
      <p:sp>
        <p:nvSpPr>
          <p:cNvPr id="8" name="Supabase"/>
          <p:cNvSpPr/>
          <p:nvPr/>
        </p:nvSpPr>
        <p:spPr>
          <a:xfrm>
            <a:off x="6309360" y="1371600"/>
            <a:ext cx="2377440" cy="1005840"/>
          </a:xfrm>
          <a:prstGeom prst="roundRect">
            <a:avLst>
              <a:gd name="adj" fmla="val 9091"/>
            </a:avLst>
          </a:prstGeom>
          <a:solidFill>
            <a:schemeClr val="accent4"/>
          </a:solidFill>
          <a:ln/>
        </p:spPr>
      </p:sp>
      <p:sp>
        <p:nvSpPr>
          <p:cNvPr id="9" name="Text 6"/>
          <p:cNvSpPr txBox="1"/>
          <p:nvPr/>
        </p:nvSpPr>
        <p:spPr>
          <a:xfrm>
            <a:off x="6309360" y="1371600"/>
            <a:ext cx="2377440" cy="1005840"/>
          </a:xfrm>
          <a:prstGeom prst="rect">
            <a:avLst/>
          </a:prstGeom>
          <a:noFill/>
          <a:ln/>
        </p:spPr>
        <p:txBody>
          <a:bodyPr wrap="square" lIns="0" tIns="0" rIns="0" bIns="0" rtlCol="0" anchor="ctr"/>
          <a:lstStyle/>
          <a:p>
            <a:pPr marL="0" indent="0" algn="ctr">
              <a:buNone/>
            </a:pPr>
            <a:r>
              <a:rPr lang="en-US" sz="1600" b="1" dirty="0">
                <a:solidFill>
                  <a:schemeClr val="bg1"/>
                </a:solidFill>
              </a:rPr>
              <a:t>Supabase</a:t>
            </a:r>
            <a:endParaRPr lang="en-US" sz="1400" dirty="0"/>
          </a:p>
          <a:p>
            <a:pPr marL="0" indent="0" algn="ctr">
              <a:buNone/>
            </a:pPr>
            <a:r>
              <a:rPr lang="en-US" sz="1200" dirty="0">
                <a:solidFill>
                  <a:schemeClr val="bg1"/>
                </a:solidFill>
              </a:rPr>
              <a:t>Postgres + pgvector</a:t>
            </a:r>
            <a:endParaRPr lang="en-US" sz="1400" dirty="0"/>
          </a:p>
        </p:txBody>
      </p:sp>
      <p:sp>
        <p:nvSpPr>
          <p:cNvPr id="10" name="Edge Fn"/>
          <p:cNvSpPr/>
          <p:nvPr/>
        </p:nvSpPr>
        <p:spPr>
          <a:xfrm>
            <a:off x="6309360" y="2926080"/>
            <a:ext cx="1143000" cy="731520"/>
          </a:xfrm>
          <a:prstGeom prst="roundRect">
            <a:avLst>
              <a:gd name="adj" fmla="val 12500"/>
            </a:avLst>
          </a:prstGeom>
          <a:solidFill>
            <a:schemeClr val="accent3"/>
          </a:solidFill>
          <a:ln/>
        </p:spPr>
      </p:sp>
      <p:sp>
        <p:nvSpPr>
          <p:cNvPr id="11" name="Text 8"/>
          <p:cNvSpPr txBox="1"/>
          <p:nvPr/>
        </p:nvSpPr>
        <p:spPr>
          <a:xfrm>
            <a:off x="6309360" y="2926080"/>
            <a:ext cx="1143000" cy="731520"/>
          </a:xfrm>
          <a:prstGeom prst="rect">
            <a:avLst/>
          </a:prstGeom>
          <a:noFill/>
          <a:ln/>
        </p:spPr>
        <p:txBody>
          <a:bodyPr wrap="square" lIns="0" tIns="0" rIns="0" bIns="0" rtlCol="0" anchor="ctr"/>
          <a:lstStyle/>
          <a:p>
            <a:pPr marL="0" indent="0" algn="ctr">
              <a:buNone/>
            </a:pPr>
            <a:r>
              <a:rPr lang="en-US" sz="1600" b="1" dirty="0">
                <a:solidFill>
                  <a:schemeClr val="bg1"/>
                </a:solidFill>
              </a:rPr>
              <a:t>Edge Fn</a:t>
            </a:r>
            <a:endParaRPr lang="en-US" sz="1400" dirty="0"/>
          </a:p>
          <a:p>
            <a:pPr marL="0" indent="0" algn="ctr">
              <a:buNone/>
            </a:pPr>
            <a:r>
              <a:rPr lang="en-US" sz="1200" dirty="0">
                <a:solidFill>
                  <a:schemeClr val="bg1"/>
                </a:solidFill>
              </a:rPr>
              <a:t>gte-small</a:t>
            </a:r>
            <a:endParaRPr lang="en-US" sz="1400" dirty="0"/>
          </a:p>
        </p:txBody>
      </p:sp>
      <p:sp>
        <p:nvSpPr>
          <p:cNvPr id="12" name="Storage"/>
          <p:cNvSpPr/>
          <p:nvPr/>
        </p:nvSpPr>
        <p:spPr>
          <a:xfrm>
            <a:off x="7543800" y="2926080"/>
            <a:ext cx="1143000" cy="731520"/>
          </a:xfrm>
          <a:prstGeom prst="roundRect">
            <a:avLst>
              <a:gd name="adj" fmla="val 12500"/>
            </a:avLst>
          </a:prstGeom>
          <a:solidFill>
            <a:schemeClr val="accent5"/>
          </a:solidFill>
          <a:ln/>
        </p:spPr>
      </p:sp>
      <p:sp>
        <p:nvSpPr>
          <p:cNvPr id="13" name="Text 10"/>
          <p:cNvSpPr txBox="1"/>
          <p:nvPr/>
        </p:nvSpPr>
        <p:spPr>
          <a:xfrm>
            <a:off x="7543800" y="2926080"/>
            <a:ext cx="1143000" cy="731520"/>
          </a:xfrm>
          <a:prstGeom prst="rect">
            <a:avLst/>
          </a:prstGeom>
          <a:noFill/>
          <a:ln/>
        </p:spPr>
        <p:txBody>
          <a:bodyPr wrap="square" lIns="0" tIns="0" rIns="0" bIns="0" rtlCol="0" anchor="ctr"/>
          <a:lstStyle/>
          <a:p>
            <a:pPr marL="0" indent="0" algn="ctr">
              <a:buNone/>
            </a:pPr>
            <a:r>
              <a:rPr lang="en-US" sz="1600" b="1" dirty="0">
                <a:solidFill>
                  <a:schemeClr val="bg1"/>
                </a:solidFill>
              </a:rPr>
              <a:t>Storage</a:t>
            </a:r>
            <a:endParaRPr lang="en-US" sz="1400" dirty="0"/>
          </a:p>
          <a:p>
            <a:pPr marL="0" indent="0" algn="ctr">
              <a:buNone/>
            </a:pPr>
            <a:r>
              <a:rPr lang="en-US" sz="1200" dirty="0">
                <a:solidFill>
                  <a:schemeClr val="bg1"/>
                </a:solidFill>
              </a:rPr>
              <a:t>Images</a:t>
            </a:r>
            <a:endParaRPr lang="en-US" sz="1400" dirty="0"/>
          </a:p>
        </p:txBody>
      </p:sp>
      <p:sp>
        <p:nvSpPr>
          <p:cNvPr id="14" name="Arrow"/>
          <p:cNvSpPr/>
          <p:nvPr/>
        </p:nvSpPr>
        <p:spPr>
          <a:xfrm>
            <a:off x="2377440" y="1691640"/>
            <a:ext cx="1005840" cy="0"/>
          </a:xfrm>
          <a:prstGeom prst="line">
            <a:avLst/>
          </a:prstGeom>
          <a:noFill/>
          <a:ln w="25400">
            <a:solidFill>
              <a:schemeClr val="tx1"/>
            </a:solidFill>
            <a:prstDash val="solid"/>
            <a:tailEnd type="triangle"/>
          </a:ln>
        </p:spPr>
      </p:sp>
      <p:sp>
        <p:nvSpPr>
          <p:cNvPr id="15" name="Text 12"/>
          <p:cNvSpPr txBox="1"/>
          <p:nvPr/>
        </p:nvSpPr>
        <p:spPr>
          <a:xfrm>
            <a:off x="2377440" y="1417320"/>
            <a:ext cx="1005840" cy="228600"/>
          </a:xfrm>
          <a:prstGeom prst="rect">
            <a:avLst/>
          </a:prstGeom>
          <a:noFill/>
          <a:ln/>
        </p:spPr>
        <p:txBody>
          <a:bodyPr wrap="square" lIns="0" tIns="0" rIns="0" bIns="0" rtlCol="0" anchor="t"/>
          <a:lstStyle/>
          <a:p>
            <a:pPr marL="0" indent="0" algn="ctr">
              <a:buNone/>
            </a:pPr>
            <a:r>
              <a:rPr lang="en-US" sz="1200" b="1" dirty="0">
                <a:solidFill>
                  <a:schemeClr val="accent1"/>
                </a:solidFill>
              </a:rPr>
              <a:t>REST</a:t>
            </a:r>
            <a:endParaRPr lang="en-US" sz="1200" dirty="0"/>
          </a:p>
        </p:txBody>
      </p:sp>
      <p:sp>
        <p:nvSpPr>
          <p:cNvPr id="16" name="Arrow"/>
          <p:cNvSpPr/>
          <p:nvPr/>
        </p:nvSpPr>
        <p:spPr>
          <a:xfrm>
            <a:off x="2377440" y="2103120"/>
            <a:ext cx="1005840" cy="0"/>
          </a:xfrm>
          <a:prstGeom prst="line">
            <a:avLst/>
          </a:prstGeom>
          <a:noFill/>
          <a:ln w="25400">
            <a:solidFill>
              <a:schemeClr val="tx1"/>
            </a:solidFill>
            <a:prstDash val="solid"/>
            <a:headEnd type="triangle"/>
            <a:tailEnd type="triangle"/>
          </a:ln>
        </p:spPr>
      </p:sp>
      <p:sp>
        <p:nvSpPr>
          <p:cNvPr id="17" name="Text 14"/>
          <p:cNvSpPr txBox="1"/>
          <p:nvPr/>
        </p:nvSpPr>
        <p:spPr>
          <a:xfrm>
            <a:off x="2377440" y="2148840"/>
            <a:ext cx="1005840" cy="228600"/>
          </a:xfrm>
          <a:prstGeom prst="rect">
            <a:avLst/>
          </a:prstGeom>
          <a:noFill/>
          <a:ln/>
        </p:spPr>
        <p:txBody>
          <a:bodyPr wrap="square" lIns="0" tIns="0" rIns="0" bIns="0" rtlCol="0" anchor="t"/>
          <a:lstStyle/>
          <a:p>
            <a:pPr marL="0" indent="0" algn="ctr">
              <a:buNone/>
            </a:pPr>
            <a:r>
              <a:rPr lang="en-US" sz="1200" b="1" dirty="0">
                <a:solidFill>
                  <a:schemeClr val="accent1"/>
                </a:solidFill>
              </a:rPr>
              <a:t>Socket.IO</a:t>
            </a:r>
            <a:endParaRPr lang="en-US" sz="1200" dirty="0"/>
          </a:p>
        </p:txBody>
      </p:sp>
      <p:sp>
        <p:nvSpPr>
          <p:cNvPr id="18" name="Arrow"/>
          <p:cNvSpPr/>
          <p:nvPr/>
        </p:nvSpPr>
        <p:spPr>
          <a:xfrm>
            <a:off x="5303520" y="1874520"/>
            <a:ext cx="1005840" cy="0"/>
          </a:xfrm>
          <a:prstGeom prst="line">
            <a:avLst/>
          </a:prstGeom>
          <a:noFill/>
          <a:ln w="25400">
            <a:solidFill>
              <a:schemeClr val="tx1"/>
            </a:solidFill>
            <a:prstDash val="solid"/>
            <a:tailEnd type="triangle"/>
          </a:ln>
        </p:spPr>
      </p:sp>
      <p:sp>
        <p:nvSpPr>
          <p:cNvPr id="19" name="Text 16"/>
          <p:cNvSpPr txBox="1"/>
          <p:nvPr/>
        </p:nvSpPr>
        <p:spPr>
          <a:xfrm>
            <a:off x="5303520" y="1600200"/>
            <a:ext cx="1005840" cy="228600"/>
          </a:xfrm>
          <a:prstGeom prst="rect">
            <a:avLst/>
          </a:prstGeom>
          <a:noFill/>
          <a:ln/>
        </p:spPr>
        <p:txBody>
          <a:bodyPr wrap="square" lIns="0" tIns="0" rIns="0" bIns="0" rtlCol="0" anchor="t"/>
          <a:lstStyle/>
          <a:p>
            <a:pPr marL="0" indent="0" algn="ctr">
              <a:buNone/>
            </a:pPr>
            <a:r>
              <a:rPr lang="en-US" sz="1200" b="1" dirty="0">
                <a:solidFill>
                  <a:schemeClr val="accent1"/>
                </a:solidFill>
              </a:rPr>
              <a:t>Prisma</a:t>
            </a:r>
            <a:endParaRPr lang="en-US" sz="1200" dirty="0"/>
          </a:p>
        </p:txBody>
      </p:sp>
      <p:sp>
        <p:nvSpPr>
          <p:cNvPr id="20" name="Elbow"/>
          <p:cNvSpPr/>
          <p:nvPr/>
        </p:nvSpPr>
        <p:spPr>
          <a:xfrm>
            <a:off x="4343400" y="2377440"/>
            <a:ext cx="0" cy="914400"/>
          </a:xfrm>
          <a:prstGeom prst="line">
            <a:avLst/>
          </a:prstGeom>
          <a:noFill/>
          <a:ln w="25400">
            <a:solidFill>
              <a:schemeClr val="tx1"/>
            </a:solidFill>
            <a:prstDash val="solid"/>
          </a:ln>
        </p:spPr>
      </p:sp>
      <p:sp>
        <p:nvSpPr>
          <p:cNvPr id="21" name="Arrow"/>
          <p:cNvSpPr/>
          <p:nvPr/>
        </p:nvSpPr>
        <p:spPr>
          <a:xfrm>
            <a:off x="4343400" y="3291840"/>
            <a:ext cx="1965960" cy="0"/>
          </a:xfrm>
          <a:prstGeom prst="line">
            <a:avLst/>
          </a:prstGeom>
          <a:noFill/>
          <a:ln w="25400">
            <a:solidFill>
              <a:schemeClr val="tx1"/>
            </a:solidFill>
            <a:prstDash val="solid"/>
            <a:tailEnd type="triangle"/>
          </a:ln>
        </p:spPr>
      </p:sp>
      <p:sp>
        <p:nvSpPr>
          <p:cNvPr id="22" name="Text 19"/>
          <p:cNvSpPr txBox="1"/>
          <p:nvPr/>
        </p:nvSpPr>
        <p:spPr>
          <a:xfrm>
            <a:off x="4434840" y="3017520"/>
            <a:ext cx="1737360" cy="228600"/>
          </a:xfrm>
          <a:prstGeom prst="rect">
            <a:avLst/>
          </a:prstGeom>
          <a:noFill/>
          <a:ln/>
        </p:spPr>
        <p:txBody>
          <a:bodyPr wrap="square" lIns="0" tIns="0" rIns="0" bIns="0" rtlCol="0" anchor="t"/>
          <a:lstStyle/>
          <a:p>
            <a:pPr marL="0" indent="0" algn="ctr">
              <a:buNone/>
            </a:pPr>
            <a:r>
              <a:rPr lang="en-US" sz="1200" b="1" dirty="0">
                <a:solidFill>
                  <a:schemeClr val="accent1"/>
                </a:solidFill>
              </a:rPr>
              <a:t>embed + upload</a:t>
            </a:r>
            <a:endParaRPr lang="en-US" sz="1200" dirty="0"/>
          </a:p>
        </p:txBody>
      </p:sp>
      <p:sp>
        <p:nvSpPr>
          <p:cNvPr id="23" name="Shape 20"/>
          <p:cNvSpPr/>
          <p:nvPr/>
        </p:nvSpPr>
        <p:spPr>
          <a:xfrm>
            <a:off x="457200" y="3977640"/>
            <a:ext cx="2651760" cy="548640"/>
          </a:xfrm>
          <a:prstGeom prst="roundRect">
            <a:avLst>
              <a:gd name="adj" fmla="val 13333"/>
            </a:avLst>
          </a:prstGeom>
          <a:solidFill>
            <a:schemeClr val="bg2"/>
          </a:solidFill>
          <a:ln/>
        </p:spPr>
      </p:sp>
      <p:sp>
        <p:nvSpPr>
          <p:cNvPr id="24" name="Text 21"/>
          <p:cNvSpPr txBox="1"/>
          <p:nvPr/>
        </p:nvSpPr>
        <p:spPr>
          <a:xfrm>
            <a:off x="548640" y="3977640"/>
            <a:ext cx="2468880" cy="548640"/>
          </a:xfrm>
          <a:prstGeom prst="rect">
            <a:avLst/>
          </a:prstGeom>
          <a:noFill/>
          <a:ln/>
        </p:spPr>
        <p:txBody>
          <a:bodyPr wrap="square" lIns="0" tIns="0" rIns="0" bIns="0" rtlCol="0" anchor="ctr"/>
          <a:lstStyle/>
          <a:p>
            <a:pPr marL="0" indent="0" algn="ctr">
              <a:buNone/>
            </a:pPr>
            <a:r>
              <a:rPr lang="en-US" sz="1400" dirty="0">
                <a:solidFill>
                  <a:schemeClr val="tx1"/>
                </a:solidFill>
              </a:rPr>
              <a:t>Vectors live next to items</a:t>
            </a:r>
            <a:endParaRPr lang="en-US" sz="1400" dirty="0"/>
          </a:p>
        </p:txBody>
      </p:sp>
      <p:sp>
        <p:nvSpPr>
          <p:cNvPr id="25" name="Shape 22"/>
          <p:cNvSpPr/>
          <p:nvPr/>
        </p:nvSpPr>
        <p:spPr>
          <a:xfrm>
            <a:off x="3246120" y="3977640"/>
            <a:ext cx="2651760" cy="548640"/>
          </a:xfrm>
          <a:prstGeom prst="roundRect">
            <a:avLst>
              <a:gd name="adj" fmla="val 13333"/>
            </a:avLst>
          </a:prstGeom>
          <a:solidFill>
            <a:schemeClr val="bg2"/>
          </a:solidFill>
          <a:ln/>
        </p:spPr>
      </p:sp>
      <p:sp>
        <p:nvSpPr>
          <p:cNvPr id="26" name="Text 23"/>
          <p:cNvSpPr txBox="1"/>
          <p:nvPr/>
        </p:nvSpPr>
        <p:spPr>
          <a:xfrm>
            <a:off x="3337560" y="3977640"/>
            <a:ext cx="2468880" cy="548640"/>
          </a:xfrm>
          <a:prstGeom prst="rect">
            <a:avLst/>
          </a:prstGeom>
          <a:noFill/>
          <a:ln/>
        </p:spPr>
        <p:txBody>
          <a:bodyPr wrap="square" lIns="0" tIns="0" rIns="0" bIns="0" rtlCol="0" anchor="ctr"/>
          <a:lstStyle/>
          <a:p>
            <a:pPr marL="0" indent="0" algn="ctr">
              <a:buNone/>
            </a:pPr>
            <a:r>
              <a:rPr lang="en-US" sz="1400" dirty="0">
                <a:solidFill>
                  <a:schemeClr val="tx1"/>
                </a:solidFill>
              </a:rPr>
              <a:t>Socket.IO rooms per user ID</a:t>
            </a:r>
            <a:endParaRPr lang="en-US" sz="1400" dirty="0"/>
          </a:p>
        </p:txBody>
      </p:sp>
      <p:sp>
        <p:nvSpPr>
          <p:cNvPr id="27" name="Shape 24"/>
          <p:cNvSpPr/>
          <p:nvPr/>
        </p:nvSpPr>
        <p:spPr>
          <a:xfrm>
            <a:off x="6035040" y="3977640"/>
            <a:ext cx="2651760" cy="548640"/>
          </a:xfrm>
          <a:prstGeom prst="roundRect">
            <a:avLst>
              <a:gd name="adj" fmla="val 13333"/>
            </a:avLst>
          </a:prstGeom>
          <a:solidFill>
            <a:schemeClr val="bg2"/>
          </a:solidFill>
          <a:ln/>
        </p:spPr>
      </p:sp>
      <p:sp>
        <p:nvSpPr>
          <p:cNvPr id="28" name="Text 25"/>
          <p:cNvSpPr txBox="1"/>
          <p:nvPr/>
        </p:nvSpPr>
        <p:spPr>
          <a:xfrm>
            <a:off x="6126480" y="3977640"/>
            <a:ext cx="2468880" cy="548640"/>
          </a:xfrm>
          <a:prstGeom prst="rect">
            <a:avLst/>
          </a:prstGeom>
          <a:noFill/>
          <a:ln/>
        </p:spPr>
        <p:txBody>
          <a:bodyPr wrap="square" lIns="0" tIns="0" rIns="0" bIns="0" rtlCol="0" anchor="ctr"/>
          <a:lstStyle/>
          <a:p>
            <a:pPr marL="0" indent="0" algn="ctr">
              <a:buNone/>
            </a:pPr>
            <a:r>
              <a:rPr lang="en-US" sz="1400" dirty="0">
                <a:solidFill>
                  <a:schemeClr val="tx1"/>
                </a:solidFill>
              </a:rPr>
              <a:t>Uploads via service-role key</a:t>
            </a:r>
            <a:endParaRPr lang="en-US" sz="1400" dirty="0"/>
          </a:p>
        </p:txBody>
      </p:sp>
      <p:sp>
        <p:nvSpPr>
          <p:cNvPr id="3"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320040"/>
            <a:ext cx="8229600" cy="731520"/>
          </a:xfrm>
          <a:prstGeom prst="rect">
            <a:avLst/>
          </a:prstGeom>
          <a:noFill/>
          <a:ln/>
        </p:spPr>
        <p:txBody>
          <a:bodyPr wrap="square" lIns="0" tIns="0" rIns="0" bIns="0" rtlCol="0" anchor="ctr"/>
          <a:lstStyle/>
          <a:p>
            <a:pPr marL="0" indent="0" algn="l">
              <a:buNone/>
            </a:pPr>
            <a:r>
              <a:rPr lang="en-US" sz="3400" b="1" dirty="0">
                <a:solidFill>
                  <a:schemeClr val="tx2"/>
                </a:solidFill>
              </a:rPr>
              <a:t>Core features</a:t>
            </a:r>
            <a:endParaRPr lang="en-US" sz="3400" dirty="0"/>
          </a:p>
        </p:txBody>
      </p:sp>
      <p:sp>
        <p:nvSpPr>
          <p:cNvPr id="4" name="Shape 1"/>
          <p:cNvSpPr/>
          <p:nvPr/>
        </p:nvSpPr>
        <p:spPr>
          <a:xfrm>
            <a:off x="457200" y="1280160"/>
            <a:ext cx="4023360" cy="1417320"/>
          </a:xfrm>
          <a:prstGeom prst="roundRect">
            <a:avLst>
              <a:gd name="adj" fmla="val 5161"/>
            </a:avLst>
          </a:prstGeom>
          <a:solidFill>
            <a:schemeClr val="bg2"/>
          </a:solidFill>
          <a:ln/>
        </p:spPr>
      </p:sp>
      <p:sp>
        <p:nvSpPr>
          <p:cNvPr id="5" name="Icon circle FaLock"/>
          <p:cNvSpPr/>
          <p:nvPr/>
        </p:nvSpPr>
        <p:spPr>
          <a:xfrm>
            <a:off x="685800" y="1664208"/>
            <a:ext cx="640080" cy="640080"/>
          </a:xfrm>
          <a:prstGeom prst="ellipse">
            <a:avLst/>
          </a:prstGeom>
          <a:solidFill>
            <a:schemeClr val="tx2"/>
          </a:solidFill>
          <a:ln/>
        </p:spPr>
      </p:sp>
      <p:pic>
        <p:nvPicPr>
          <p:cNvPr id="6" name="Image 0" descr="Lock icon"/>
          <p:cNvPicPr>
            <a:picLocks noChangeAspect="1"/>
          </p:cNvPicPr>
          <p:nvPr/>
        </p:nvPicPr>
        <p:blipFill>
          <a:blip r:embed="rId3"/>
          <a:stretch>
            <a:fillRect/>
          </a:stretch>
        </p:blipFill>
        <p:spPr>
          <a:xfrm>
            <a:off x="845820" y="1824228"/>
            <a:ext cx="320040" cy="320040"/>
          </a:xfrm>
          <a:prstGeom prst="rect">
            <a:avLst/>
          </a:prstGeom>
        </p:spPr>
      </p:pic>
      <p:sp>
        <p:nvSpPr>
          <p:cNvPr id="7" name="Text 3"/>
          <p:cNvSpPr txBox="1"/>
          <p:nvPr/>
        </p:nvSpPr>
        <p:spPr>
          <a:xfrm>
            <a:off x="1508760" y="1463040"/>
            <a:ext cx="2788920" cy="320040"/>
          </a:xfrm>
          <a:prstGeom prst="rect">
            <a:avLst/>
          </a:prstGeom>
          <a:noFill/>
          <a:ln/>
        </p:spPr>
        <p:txBody>
          <a:bodyPr wrap="square" lIns="0" tIns="0" rIns="0" bIns="0" rtlCol="0" anchor="t"/>
          <a:lstStyle/>
          <a:p>
            <a:pPr marL="0" indent="0" algn="l">
              <a:buNone/>
            </a:pPr>
            <a:r>
              <a:rPr lang="en-US" sz="1800" b="1" dirty="0">
                <a:solidFill>
                  <a:schemeClr val="tx2"/>
                </a:solidFill>
              </a:rPr>
              <a:t>Authentication</a:t>
            </a:r>
            <a:endParaRPr lang="en-US" sz="1800" dirty="0"/>
          </a:p>
        </p:txBody>
      </p:sp>
      <p:sp>
        <p:nvSpPr>
          <p:cNvPr id="8" name="Text 4"/>
          <p:cNvSpPr txBox="1"/>
          <p:nvPr/>
        </p:nvSpPr>
        <p:spPr>
          <a:xfrm>
            <a:off x="1508760" y="1828800"/>
            <a:ext cx="2788920" cy="777240"/>
          </a:xfrm>
          <a:prstGeom prst="rect">
            <a:avLst/>
          </a:prstGeom>
          <a:noFill/>
          <a:ln/>
        </p:spPr>
        <p:txBody>
          <a:bodyPr wrap="square" lIns="0" tIns="0" rIns="0" bIns="0" rtlCol="0" anchor="t"/>
          <a:lstStyle/>
          <a:p>
            <a:pPr marL="0" indent="0" algn="l">
              <a:buNone/>
            </a:pPr>
            <a:r>
              <a:rPr lang="en-US" sz="1400" dirty="0">
                <a:solidFill>
                  <a:schemeClr val="tx1"/>
                </a:solidFill>
              </a:rPr>
              <a:t>JWT signup and login with USER and ADMIN roles</a:t>
            </a:r>
            <a:endParaRPr lang="en-US" sz="1400" dirty="0"/>
          </a:p>
        </p:txBody>
      </p:sp>
      <p:sp>
        <p:nvSpPr>
          <p:cNvPr id="9" name="Shape 5"/>
          <p:cNvSpPr/>
          <p:nvPr/>
        </p:nvSpPr>
        <p:spPr>
          <a:xfrm>
            <a:off x="4663440" y="1280160"/>
            <a:ext cx="4023360" cy="1417320"/>
          </a:xfrm>
          <a:prstGeom prst="roundRect">
            <a:avLst>
              <a:gd name="adj" fmla="val 5161"/>
            </a:avLst>
          </a:prstGeom>
          <a:solidFill>
            <a:schemeClr val="bg2"/>
          </a:solidFill>
          <a:ln/>
        </p:spPr>
      </p:sp>
      <p:sp>
        <p:nvSpPr>
          <p:cNvPr id="10" name="Icon circle FaClipboardList"/>
          <p:cNvSpPr/>
          <p:nvPr/>
        </p:nvSpPr>
        <p:spPr>
          <a:xfrm>
            <a:off x="4892040" y="1664208"/>
            <a:ext cx="640080" cy="640080"/>
          </a:xfrm>
          <a:prstGeom prst="ellipse">
            <a:avLst/>
          </a:prstGeom>
          <a:solidFill>
            <a:schemeClr val="accent1"/>
          </a:solidFill>
          <a:ln/>
        </p:spPr>
      </p:sp>
      <p:pic>
        <p:nvPicPr>
          <p:cNvPr id="11" name="Image 1" descr="ClipboardList icon"/>
          <p:cNvPicPr>
            <a:picLocks noChangeAspect="1"/>
          </p:cNvPicPr>
          <p:nvPr/>
        </p:nvPicPr>
        <p:blipFill>
          <a:blip r:embed="rId4"/>
          <a:stretch>
            <a:fillRect/>
          </a:stretch>
        </p:blipFill>
        <p:spPr>
          <a:xfrm>
            <a:off x="5052060" y="1824228"/>
            <a:ext cx="320040" cy="320040"/>
          </a:xfrm>
          <a:prstGeom prst="rect">
            <a:avLst/>
          </a:prstGeom>
        </p:spPr>
      </p:pic>
      <p:sp>
        <p:nvSpPr>
          <p:cNvPr id="12" name="Text 7"/>
          <p:cNvSpPr txBox="1"/>
          <p:nvPr/>
        </p:nvSpPr>
        <p:spPr>
          <a:xfrm>
            <a:off x="5715000" y="1463040"/>
            <a:ext cx="2788920" cy="320040"/>
          </a:xfrm>
          <a:prstGeom prst="rect">
            <a:avLst/>
          </a:prstGeom>
          <a:noFill/>
          <a:ln/>
        </p:spPr>
        <p:txBody>
          <a:bodyPr wrap="square" lIns="0" tIns="0" rIns="0" bIns="0" rtlCol="0" anchor="t"/>
          <a:lstStyle/>
          <a:p>
            <a:pPr marL="0" indent="0" algn="l">
              <a:buNone/>
            </a:pPr>
            <a:r>
              <a:rPr lang="en-US" sz="1800" b="1" dirty="0">
                <a:solidFill>
                  <a:schemeClr val="tx2"/>
                </a:solidFill>
              </a:rPr>
              <a:t>Item reporting</a:t>
            </a:r>
            <a:endParaRPr lang="en-US" sz="1800" dirty="0"/>
          </a:p>
        </p:txBody>
      </p:sp>
      <p:sp>
        <p:nvSpPr>
          <p:cNvPr id="13" name="Text 8"/>
          <p:cNvSpPr txBox="1"/>
          <p:nvPr/>
        </p:nvSpPr>
        <p:spPr>
          <a:xfrm>
            <a:off x="5715000" y="1828800"/>
            <a:ext cx="2788920" cy="777240"/>
          </a:xfrm>
          <a:prstGeom prst="rect">
            <a:avLst/>
          </a:prstGeom>
          <a:noFill/>
          <a:ln/>
        </p:spPr>
        <p:txBody>
          <a:bodyPr wrap="square" lIns="0" tIns="0" rIns="0" bIns="0" rtlCol="0" anchor="t"/>
          <a:lstStyle/>
          <a:p>
            <a:pPr marL="0" indent="0" algn="l">
              <a:buNone/>
            </a:pPr>
            <a:r>
              <a:rPr lang="en-US" sz="1400" dirty="0">
                <a:solidFill>
                  <a:schemeClr val="tx1"/>
                </a:solidFill>
              </a:rPr>
              <a:t>Title, category, date, location, photo and map pin</a:t>
            </a:r>
            <a:endParaRPr lang="en-US" sz="1400" dirty="0"/>
          </a:p>
        </p:txBody>
      </p:sp>
      <p:sp>
        <p:nvSpPr>
          <p:cNvPr id="14" name="Shape 9"/>
          <p:cNvSpPr/>
          <p:nvPr/>
        </p:nvSpPr>
        <p:spPr>
          <a:xfrm>
            <a:off x="457200" y="2880360"/>
            <a:ext cx="4023360" cy="1417320"/>
          </a:xfrm>
          <a:prstGeom prst="roundRect">
            <a:avLst>
              <a:gd name="adj" fmla="val 5161"/>
            </a:avLst>
          </a:prstGeom>
          <a:solidFill>
            <a:schemeClr val="bg2"/>
          </a:solidFill>
          <a:ln/>
        </p:spPr>
      </p:sp>
      <p:sp>
        <p:nvSpPr>
          <p:cNvPr id="15" name="Icon circle FaCamera"/>
          <p:cNvSpPr/>
          <p:nvPr/>
        </p:nvSpPr>
        <p:spPr>
          <a:xfrm>
            <a:off x="685800" y="3264408"/>
            <a:ext cx="640080" cy="640080"/>
          </a:xfrm>
          <a:prstGeom prst="ellipse">
            <a:avLst/>
          </a:prstGeom>
          <a:solidFill>
            <a:schemeClr val="accent1"/>
          </a:solidFill>
          <a:ln/>
        </p:spPr>
      </p:sp>
      <p:pic>
        <p:nvPicPr>
          <p:cNvPr id="16" name="Image 2" descr="Camera icon"/>
          <p:cNvPicPr>
            <a:picLocks noChangeAspect="1"/>
          </p:cNvPicPr>
          <p:nvPr/>
        </p:nvPicPr>
        <p:blipFill>
          <a:blip r:embed="rId5"/>
          <a:stretch>
            <a:fillRect/>
          </a:stretch>
        </p:blipFill>
        <p:spPr>
          <a:xfrm>
            <a:off x="845820" y="3424428"/>
            <a:ext cx="320040" cy="320040"/>
          </a:xfrm>
          <a:prstGeom prst="rect">
            <a:avLst/>
          </a:prstGeom>
        </p:spPr>
      </p:pic>
      <p:sp>
        <p:nvSpPr>
          <p:cNvPr id="17" name="Text 11"/>
          <p:cNvSpPr txBox="1"/>
          <p:nvPr/>
        </p:nvSpPr>
        <p:spPr>
          <a:xfrm>
            <a:off x="1508760" y="3063240"/>
            <a:ext cx="2788920" cy="320040"/>
          </a:xfrm>
          <a:prstGeom prst="rect">
            <a:avLst/>
          </a:prstGeom>
          <a:noFill/>
          <a:ln/>
        </p:spPr>
        <p:txBody>
          <a:bodyPr wrap="square" lIns="0" tIns="0" rIns="0" bIns="0" rtlCol="0" anchor="t"/>
          <a:lstStyle/>
          <a:p>
            <a:pPr marL="0" indent="0" algn="l">
              <a:buNone/>
            </a:pPr>
            <a:r>
              <a:rPr lang="en-US" sz="1800" b="1" dirty="0">
                <a:solidFill>
                  <a:schemeClr val="tx2"/>
                </a:solidFill>
              </a:rPr>
              <a:t>Image upload</a:t>
            </a:r>
            <a:endParaRPr lang="en-US" sz="1800" dirty="0"/>
          </a:p>
        </p:txBody>
      </p:sp>
      <p:sp>
        <p:nvSpPr>
          <p:cNvPr id="18" name="Text 12"/>
          <p:cNvSpPr txBox="1"/>
          <p:nvPr/>
        </p:nvSpPr>
        <p:spPr>
          <a:xfrm>
            <a:off x="1508760" y="3429000"/>
            <a:ext cx="2788920" cy="777240"/>
          </a:xfrm>
          <a:prstGeom prst="rect">
            <a:avLst/>
          </a:prstGeom>
          <a:noFill/>
          <a:ln/>
        </p:spPr>
        <p:txBody>
          <a:bodyPr wrap="square" lIns="0" tIns="0" rIns="0" bIns="0" rtlCol="0" anchor="t"/>
          <a:lstStyle/>
          <a:p>
            <a:pPr marL="0" indent="0" algn="l">
              <a:buNone/>
            </a:pPr>
            <a:r>
              <a:rPr lang="en-US" sz="1400" dirty="0">
                <a:solidFill>
                  <a:schemeClr val="tx1"/>
                </a:solidFill>
              </a:rPr>
              <a:t>Photos stored in Supabase Storage with public URLs</a:t>
            </a:r>
            <a:endParaRPr lang="en-US" sz="1400" dirty="0"/>
          </a:p>
        </p:txBody>
      </p:sp>
      <p:sp>
        <p:nvSpPr>
          <p:cNvPr id="19" name="Shape 13"/>
          <p:cNvSpPr/>
          <p:nvPr/>
        </p:nvSpPr>
        <p:spPr>
          <a:xfrm>
            <a:off x="4663440" y="2880360"/>
            <a:ext cx="4023360" cy="1417320"/>
          </a:xfrm>
          <a:prstGeom prst="roundRect">
            <a:avLst>
              <a:gd name="adj" fmla="val 5161"/>
            </a:avLst>
          </a:prstGeom>
          <a:solidFill>
            <a:schemeClr val="bg2"/>
          </a:solidFill>
          <a:ln/>
        </p:spPr>
      </p:sp>
      <p:sp>
        <p:nvSpPr>
          <p:cNvPr id="20" name="Icon circle FaSearch"/>
          <p:cNvSpPr/>
          <p:nvPr/>
        </p:nvSpPr>
        <p:spPr>
          <a:xfrm>
            <a:off x="4892040" y="3264408"/>
            <a:ext cx="640080" cy="640080"/>
          </a:xfrm>
          <a:prstGeom prst="ellipse">
            <a:avLst/>
          </a:prstGeom>
          <a:solidFill>
            <a:schemeClr val="tx2"/>
          </a:solidFill>
          <a:ln/>
        </p:spPr>
      </p:sp>
      <p:pic>
        <p:nvPicPr>
          <p:cNvPr id="21" name="Image 3" descr="Search icon"/>
          <p:cNvPicPr>
            <a:picLocks noChangeAspect="1"/>
          </p:cNvPicPr>
          <p:nvPr/>
        </p:nvPicPr>
        <p:blipFill>
          <a:blip r:embed="rId6"/>
          <a:stretch>
            <a:fillRect/>
          </a:stretch>
        </p:blipFill>
        <p:spPr>
          <a:xfrm>
            <a:off x="5052060" y="3424428"/>
            <a:ext cx="320040" cy="320040"/>
          </a:xfrm>
          <a:prstGeom prst="rect">
            <a:avLst/>
          </a:prstGeom>
        </p:spPr>
      </p:pic>
      <p:sp>
        <p:nvSpPr>
          <p:cNvPr id="22" name="Text 15"/>
          <p:cNvSpPr txBox="1"/>
          <p:nvPr/>
        </p:nvSpPr>
        <p:spPr>
          <a:xfrm>
            <a:off x="5715000" y="3063240"/>
            <a:ext cx="2788920" cy="320040"/>
          </a:xfrm>
          <a:prstGeom prst="rect">
            <a:avLst/>
          </a:prstGeom>
          <a:noFill/>
          <a:ln/>
        </p:spPr>
        <p:txBody>
          <a:bodyPr wrap="square" lIns="0" tIns="0" rIns="0" bIns="0" rtlCol="0" anchor="t"/>
          <a:lstStyle/>
          <a:p>
            <a:pPr marL="0" indent="0" algn="l">
              <a:buNone/>
            </a:pPr>
            <a:r>
              <a:rPr lang="en-US" sz="1800" b="1" dirty="0">
                <a:solidFill>
                  <a:schemeClr val="tx2"/>
                </a:solidFill>
              </a:rPr>
              <a:t>Search and browse</a:t>
            </a:r>
            <a:endParaRPr lang="en-US" sz="1800" dirty="0"/>
          </a:p>
        </p:txBody>
      </p:sp>
      <p:sp>
        <p:nvSpPr>
          <p:cNvPr id="23" name="Text 16"/>
          <p:cNvSpPr txBox="1"/>
          <p:nvPr/>
        </p:nvSpPr>
        <p:spPr>
          <a:xfrm>
            <a:off x="5715000" y="3429000"/>
            <a:ext cx="2788920" cy="777240"/>
          </a:xfrm>
          <a:prstGeom prst="rect">
            <a:avLst/>
          </a:prstGeom>
          <a:noFill/>
          <a:ln/>
        </p:spPr>
        <p:txBody>
          <a:bodyPr wrap="square" lIns="0" tIns="0" rIns="0" bIns="0" rtlCol="0" anchor="t"/>
          <a:lstStyle/>
          <a:p>
            <a:pPr marL="0" indent="0" algn="l">
              <a:buNone/>
            </a:pPr>
            <a:r>
              <a:rPr lang="en-US" sz="1400" dirty="0">
                <a:solidFill>
                  <a:schemeClr val="tx1"/>
                </a:solidFill>
              </a:rPr>
              <a:t>Full-text search plus LOST / FOUND filters</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320040"/>
            <a:ext cx="8229600" cy="731520"/>
          </a:xfrm>
          <a:prstGeom prst="rect">
            <a:avLst/>
          </a:prstGeom>
          <a:noFill/>
          <a:ln/>
        </p:spPr>
        <p:txBody>
          <a:bodyPr wrap="square" lIns="0" tIns="0" rIns="0" bIns="0" rtlCol="0" anchor="ctr"/>
          <a:lstStyle/>
          <a:p>
            <a:pPr marL="0" indent="0" algn="l">
              <a:buNone/>
            </a:pPr>
            <a:r>
              <a:rPr lang="en-US" sz="3400" b="1" dirty="0">
                <a:solidFill>
                  <a:schemeClr val="tx2"/>
                </a:solidFill>
              </a:rPr>
              <a:t>More features</a:t>
            </a:r>
            <a:endParaRPr lang="en-US" sz="3400" dirty="0"/>
          </a:p>
        </p:txBody>
      </p:sp>
      <p:sp>
        <p:nvSpPr>
          <p:cNvPr id="4" name="Shape 1"/>
          <p:cNvSpPr/>
          <p:nvPr/>
        </p:nvSpPr>
        <p:spPr>
          <a:xfrm>
            <a:off x="457200" y="1280160"/>
            <a:ext cx="4023360" cy="1417320"/>
          </a:xfrm>
          <a:prstGeom prst="roundRect">
            <a:avLst>
              <a:gd name="adj" fmla="val 5161"/>
            </a:avLst>
          </a:prstGeom>
          <a:solidFill>
            <a:schemeClr val="bg2"/>
          </a:solidFill>
          <a:ln/>
        </p:spPr>
      </p:sp>
      <p:sp>
        <p:nvSpPr>
          <p:cNvPr id="5" name="Icon circle FaMapMarkerAlt"/>
          <p:cNvSpPr/>
          <p:nvPr/>
        </p:nvSpPr>
        <p:spPr>
          <a:xfrm>
            <a:off x="685800" y="1664208"/>
            <a:ext cx="640080" cy="640080"/>
          </a:xfrm>
          <a:prstGeom prst="ellipse">
            <a:avLst/>
          </a:prstGeom>
          <a:solidFill>
            <a:schemeClr val="tx2"/>
          </a:solidFill>
          <a:ln/>
        </p:spPr>
      </p:sp>
      <p:pic>
        <p:nvPicPr>
          <p:cNvPr id="6" name="Image 0" descr="MapMarkerAlt icon"/>
          <p:cNvPicPr>
            <a:picLocks noChangeAspect="1"/>
          </p:cNvPicPr>
          <p:nvPr/>
        </p:nvPicPr>
        <p:blipFill>
          <a:blip r:embed="rId3"/>
          <a:stretch>
            <a:fillRect/>
          </a:stretch>
        </p:blipFill>
        <p:spPr>
          <a:xfrm>
            <a:off x="845820" y="1824228"/>
            <a:ext cx="320040" cy="320040"/>
          </a:xfrm>
          <a:prstGeom prst="rect">
            <a:avLst/>
          </a:prstGeom>
        </p:spPr>
      </p:pic>
      <p:sp>
        <p:nvSpPr>
          <p:cNvPr id="7" name="Text 3"/>
          <p:cNvSpPr txBox="1"/>
          <p:nvPr/>
        </p:nvSpPr>
        <p:spPr>
          <a:xfrm>
            <a:off x="1508760" y="1463040"/>
            <a:ext cx="2788920" cy="320040"/>
          </a:xfrm>
          <a:prstGeom prst="rect">
            <a:avLst/>
          </a:prstGeom>
          <a:noFill/>
          <a:ln/>
        </p:spPr>
        <p:txBody>
          <a:bodyPr wrap="square" lIns="0" tIns="0" rIns="0" bIns="0" rtlCol="0" anchor="t"/>
          <a:lstStyle/>
          <a:p>
            <a:pPr marL="0" indent="0" algn="l">
              <a:buNone/>
            </a:pPr>
            <a:r>
              <a:rPr lang="en-US" sz="1800" b="1" dirty="0">
                <a:solidFill>
                  <a:schemeClr val="tx2"/>
                </a:solidFill>
              </a:rPr>
              <a:t>Interactive maps</a:t>
            </a:r>
            <a:endParaRPr lang="en-US" sz="1800" dirty="0"/>
          </a:p>
        </p:txBody>
      </p:sp>
      <p:sp>
        <p:nvSpPr>
          <p:cNvPr id="8" name="Text 4"/>
          <p:cNvSpPr txBox="1"/>
          <p:nvPr/>
        </p:nvSpPr>
        <p:spPr>
          <a:xfrm>
            <a:off x="1508760" y="1828800"/>
            <a:ext cx="2788920" cy="777240"/>
          </a:xfrm>
          <a:prstGeom prst="rect">
            <a:avLst/>
          </a:prstGeom>
          <a:noFill/>
          <a:ln/>
        </p:spPr>
        <p:txBody>
          <a:bodyPr wrap="square" lIns="0" tIns="0" rIns="0" bIns="0" rtlCol="0" anchor="t"/>
          <a:lstStyle/>
          <a:p>
            <a:pPr marL="0" indent="0" algn="l">
              <a:buNone/>
            </a:pPr>
            <a:r>
              <a:rPr lang="en-US" sz="1400" dirty="0">
                <a:solidFill>
                  <a:schemeClr val="tx1"/>
                </a:solidFill>
              </a:rPr>
              <a:t>Click-to-place picker and a read-only map on item pages</a:t>
            </a:r>
            <a:endParaRPr lang="en-US" sz="1400" dirty="0"/>
          </a:p>
        </p:txBody>
      </p:sp>
      <p:sp>
        <p:nvSpPr>
          <p:cNvPr id="9" name="Shape 5"/>
          <p:cNvSpPr/>
          <p:nvPr/>
        </p:nvSpPr>
        <p:spPr>
          <a:xfrm>
            <a:off x="4663440" y="1280160"/>
            <a:ext cx="4023360" cy="1417320"/>
          </a:xfrm>
          <a:prstGeom prst="roundRect">
            <a:avLst>
              <a:gd name="adj" fmla="val 5161"/>
            </a:avLst>
          </a:prstGeom>
          <a:solidFill>
            <a:schemeClr val="bg2"/>
          </a:solidFill>
          <a:ln/>
        </p:spPr>
      </p:sp>
      <p:sp>
        <p:nvSpPr>
          <p:cNvPr id="10" name="Icon circle FaUserCheck"/>
          <p:cNvSpPr/>
          <p:nvPr/>
        </p:nvSpPr>
        <p:spPr>
          <a:xfrm>
            <a:off x="4892040" y="1664208"/>
            <a:ext cx="640080" cy="640080"/>
          </a:xfrm>
          <a:prstGeom prst="ellipse">
            <a:avLst/>
          </a:prstGeom>
          <a:solidFill>
            <a:schemeClr val="accent1"/>
          </a:solidFill>
          <a:ln/>
        </p:spPr>
      </p:sp>
      <p:pic>
        <p:nvPicPr>
          <p:cNvPr id="11" name="Image 1" descr="UserCheck icon"/>
          <p:cNvPicPr>
            <a:picLocks noChangeAspect="1"/>
          </p:cNvPicPr>
          <p:nvPr/>
        </p:nvPicPr>
        <p:blipFill>
          <a:blip r:embed="rId4"/>
          <a:stretch>
            <a:fillRect/>
          </a:stretch>
        </p:blipFill>
        <p:spPr>
          <a:xfrm>
            <a:off x="5052060" y="1824228"/>
            <a:ext cx="320040" cy="320040"/>
          </a:xfrm>
          <a:prstGeom prst="rect">
            <a:avLst/>
          </a:prstGeom>
        </p:spPr>
      </p:pic>
      <p:sp>
        <p:nvSpPr>
          <p:cNvPr id="12" name="Text 7"/>
          <p:cNvSpPr txBox="1"/>
          <p:nvPr/>
        </p:nvSpPr>
        <p:spPr>
          <a:xfrm>
            <a:off x="5715000" y="1463040"/>
            <a:ext cx="2788920" cy="320040"/>
          </a:xfrm>
          <a:prstGeom prst="rect">
            <a:avLst/>
          </a:prstGeom>
          <a:noFill/>
          <a:ln/>
        </p:spPr>
        <p:txBody>
          <a:bodyPr wrap="square" lIns="0" tIns="0" rIns="0" bIns="0" rtlCol="0" anchor="t"/>
          <a:lstStyle/>
          <a:p>
            <a:pPr marL="0" indent="0" algn="l">
              <a:buNone/>
            </a:pPr>
            <a:r>
              <a:rPr lang="en-US" sz="1800" b="1" dirty="0">
                <a:solidFill>
                  <a:schemeClr val="tx2"/>
                </a:solidFill>
              </a:rPr>
              <a:t>Claims system</a:t>
            </a:r>
            <a:endParaRPr lang="en-US" sz="1800" dirty="0"/>
          </a:p>
        </p:txBody>
      </p:sp>
      <p:sp>
        <p:nvSpPr>
          <p:cNvPr id="13" name="Text 8"/>
          <p:cNvSpPr txBox="1"/>
          <p:nvPr/>
        </p:nvSpPr>
        <p:spPr>
          <a:xfrm>
            <a:off x="5715000" y="1828800"/>
            <a:ext cx="2788920" cy="777240"/>
          </a:xfrm>
          <a:prstGeom prst="rect">
            <a:avLst/>
          </a:prstGeom>
          <a:noFill/>
          <a:ln/>
        </p:spPr>
        <p:txBody>
          <a:bodyPr wrap="square" lIns="0" tIns="0" rIns="0" bIns="0" rtlCol="0" anchor="t"/>
          <a:lstStyle/>
          <a:p>
            <a:pPr marL="0" indent="0" algn="l">
              <a:buNone/>
            </a:pPr>
            <a:r>
              <a:rPr lang="en-US" sz="1400" dirty="0">
                <a:solidFill>
                  <a:schemeClr val="tx1"/>
                </a:solidFill>
              </a:rPr>
              <a:t>Verification message, then owner approves or rejects</a:t>
            </a:r>
            <a:endParaRPr lang="en-US" sz="1400" dirty="0"/>
          </a:p>
        </p:txBody>
      </p:sp>
      <p:sp>
        <p:nvSpPr>
          <p:cNvPr id="14" name="Shape 9"/>
          <p:cNvSpPr/>
          <p:nvPr/>
        </p:nvSpPr>
        <p:spPr>
          <a:xfrm>
            <a:off x="457200" y="2880360"/>
            <a:ext cx="4023360" cy="1417320"/>
          </a:xfrm>
          <a:prstGeom prst="roundRect">
            <a:avLst>
              <a:gd name="adj" fmla="val 5161"/>
            </a:avLst>
          </a:prstGeom>
          <a:solidFill>
            <a:schemeClr val="bg2"/>
          </a:solidFill>
          <a:ln/>
        </p:spPr>
      </p:sp>
      <p:sp>
        <p:nvSpPr>
          <p:cNvPr id="15" name="Icon circle FaBell"/>
          <p:cNvSpPr/>
          <p:nvPr/>
        </p:nvSpPr>
        <p:spPr>
          <a:xfrm>
            <a:off x="685800" y="3264408"/>
            <a:ext cx="640080" cy="640080"/>
          </a:xfrm>
          <a:prstGeom prst="ellipse">
            <a:avLst/>
          </a:prstGeom>
          <a:solidFill>
            <a:schemeClr val="accent1"/>
          </a:solidFill>
          <a:ln/>
        </p:spPr>
      </p:sp>
      <p:pic>
        <p:nvPicPr>
          <p:cNvPr id="16" name="Image 2" descr="Bell icon"/>
          <p:cNvPicPr>
            <a:picLocks noChangeAspect="1"/>
          </p:cNvPicPr>
          <p:nvPr/>
        </p:nvPicPr>
        <p:blipFill>
          <a:blip r:embed="rId5"/>
          <a:stretch>
            <a:fillRect/>
          </a:stretch>
        </p:blipFill>
        <p:spPr>
          <a:xfrm>
            <a:off x="845820" y="3424428"/>
            <a:ext cx="320040" cy="320040"/>
          </a:xfrm>
          <a:prstGeom prst="rect">
            <a:avLst/>
          </a:prstGeom>
        </p:spPr>
      </p:pic>
      <p:sp>
        <p:nvSpPr>
          <p:cNvPr id="17" name="Text 11"/>
          <p:cNvSpPr txBox="1"/>
          <p:nvPr/>
        </p:nvSpPr>
        <p:spPr>
          <a:xfrm>
            <a:off x="1508760" y="3063240"/>
            <a:ext cx="2788920" cy="320040"/>
          </a:xfrm>
          <a:prstGeom prst="rect">
            <a:avLst/>
          </a:prstGeom>
          <a:noFill/>
          <a:ln/>
        </p:spPr>
        <p:txBody>
          <a:bodyPr wrap="square" lIns="0" tIns="0" rIns="0" bIns="0" rtlCol="0" anchor="t"/>
          <a:lstStyle/>
          <a:p>
            <a:pPr marL="0" indent="0" algn="l">
              <a:buNone/>
            </a:pPr>
            <a:r>
              <a:rPr lang="en-US" sz="1800" b="1" dirty="0">
                <a:solidFill>
                  <a:schemeClr val="tx2"/>
                </a:solidFill>
              </a:rPr>
              <a:t>Live notifications</a:t>
            </a:r>
            <a:endParaRPr lang="en-US" sz="1800" dirty="0"/>
          </a:p>
        </p:txBody>
      </p:sp>
      <p:sp>
        <p:nvSpPr>
          <p:cNvPr id="18" name="Text 12"/>
          <p:cNvSpPr txBox="1"/>
          <p:nvPr/>
        </p:nvSpPr>
        <p:spPr>
          <a:xfrm>
            <a:off x="1508760" y="3429000"/>
            <a:ext cx="2788920" cy="777240"/>
          </a:xfrm>
          <a:prstGeom prst="rect">
            <a:avLst/>
          </a:prstGeom>
          <a:noFill/>
          <a:ln/>
        </p:spPr>
        <p:txBody>
          <a:bodyPr wrap="square" lIns="0" tIns="0" rIns="0" bIns="0" rtlCol="0" anchor="t"/>
          <a:lstStyle/>
          <a:p>
            <a:pPr marL="0" indent="0" algn="l">
              <a:buNone/>
            </a:pPr>
            <a:r>
              <a:rPr lang="en-US" sz="1400" dirty="0">
                <a:solidFill>
                  <a:schemeClr val="tx1"/>
                </a:solidFill>
              </a:rPr>
              <a:t>Socket.IO toasts for new and approved claims</a:t>
            </a:r>
            <a:endParaRPr lang="en-US" sz="1400" dirty="0"/>
          </a:p>
        </p:txBody>
      </p:sp>
      <p:sp>
        <p:nvSpPr>
          <p:cNvPr id="19" name="Shape 13"/>
          <p:cNvSpPr/>
          <p:nvPr/>
        </p:nvSpPr>
        <p:spPr>
          <a:xfrm>
            <a:off x="4663440" y="2880360"/>
            <a:ext cx="4023360" cy="1417320"/>
          </a:xfrm>
          <a:prstGeom prst="roundRect">
            <a:avLst>
              <a:gd name="adj" fmla="val 5161"/>
            </a:avLst>
          </a:prstGeom>
          <a:solidFill>
            <a:schemeClr val="bg2"/>
          </a:solidFill>
          <a:ln/>
        </p:spPr>
      </p:sp>
      <p:sp>
        <p:nvSpPr>
          <p:cNvPr id="20" name="Icon circle FaUserShield"/>
          <p:cNvSpPr/>
          <p:nvPr/>
        </p:nvSpPr>
        <p:spPr>
          <a:xfrm>
            <a:off x="4892040" y="3264408"/>
            <a:ext cx="640080" cy="640080"/>
          </a:xfrm>
          <a:prstGeom prst="ellipse">
            <a:avLst/>
          </a:prstGeom>
          <a:solidFill>
            <a:schemeClr val="tx2"/>
          </a:solidFill>
          <a:ln/>
        </p:spPr>
      </p:sp>
      <p:pic>
        <p:nvPicPr>
          <p:cNvPr id="21" name="Image 3" descr="UserShield icon"/>
          <p:cNvPicPr>
            <a:picLocks noChangeAspect="1"/>
          </p:cNvPicPr>
          <p:nvPr/>
        </p:nvPicPr>
        <p:blipFill>
          <a:blip r:embed="rId6"/>
          <a:stretch>
            <a:fillRect/>
          </a:stretch>
        </p:blipFill>
        <p:spPr>
          <a:xfrm>
            <a:off x="5052060" y="3424428"/>
            <a:ext cx="320040" cy="320040"/>
          </a:xfrm>
          <a:prstGeom prst="rect">
            <a:avLst/>
          </a:prstGeom>
        </p:spPr>
      </p:pic>
      <p:sp>
        <p:nvSpPr>
          <p:cNvPr id="22" name="Text 15"/>
          <p:cNvSpPr txBox="1"/>
          <p:nvPr/>
        </p:nvSpPr>
        <p:spPr>
          <a:xfrm>
            <a:off x="5715000" y="3063240"/>
            <a:ext cx="2788920" cy="320040"/>
          </a:xfrm>
          <a:prstGeom prst="rect">
            <a:avLst/>
          </a:prstGeom>
          <a:noFill/>
          <a:ln/>
        </p:spPr>
        <p:txBody>
          <a:bodyPr wrap="square" lIns="0" tIns="0" rIns="0" bIns="0" rtlCol="0" anchor="t"/>
          <a:lstStyle/>
          <a:p>
            <a:pPr marL="0" indent="0" algn="l">
              <a:buNone/>
            </a:pPr>
            <a:r>
              <a:rPr lang="en-US" sz="1800" b="1" dirty="0">
                <a:solidFill>
                  <a:schemeClr val="tx2"/>
                </a:solidFill>
              </a:rPr>
              <a:t>Admin dashboard</a:t>
            </a:r>
            <a:endParaRPr lang="en-US" sz="1800" dirty="0"/>
          </a:p>
        </p:txBody>
      </p:sp>
      <p:sp>
        <p:nvSpPr>
          <p:cNvPr id="23" name="Text 16"/>
          <p:cNvSpPr txBox="1"/>
          <p:nvPr/>
        </p:nvSpPr>
        <p:spPr>
          <a:xfrm>
            <a:off x="5715000" y="3429000"/>
            <a:ext cx="2788920" cy="777240"/>
          </a:xfrm>
          <a:prstGeom prst="rect">
            <a:avLst/>
          </a:prstGeom>
          <a:noFill/>
          <a:ln/>
        </p:spPr>
        <p:txBody>
          <a:bodyPr wrap="square" lIns="0" tIns="0" rIns="0" bIns="0" rtlCol="0" anchor="t"/>
          <a:lstStyle/>
          <a:p>
            <a:pPr marL="0" indent="0" algn="l">
              <a:buNone/>
            </a:pPr>
            <a:r>
              <a:rPr lang="en-US" sz="1400" dirty="0">
                <a:solidFill>
                  <a:schemeClr val="tx1"/>
                </a:solidFill>
              </a:rPr>
              <a:t>Stats, claim moderation and role management</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320040"/>
            <a:ext cx="8229600" cy="731520"/>
          </a:xfrm>
          <a:prstGeom prst="rect">
            <a:avLst/>
          </a:prstGeom>
          <a:noFill/>
          <a:ln/>
        </p:spPr>
        <p:txBody>
          <a:bodyPr wrap="square" lIns="0" tIns="0" rIns="0" bIns="0" rtlCol="0" anchor="ctr"/>
          <a:lstStyle/>
          <a:p>
            <a:pPr marL="0" indent="0" algn="l">
              <a:buNone/>
            </a:pPr>
            <a:r>
              <a:rPr lang="en-US" sz="3400" b="1" dirty="0">
                <a:solidFill>
                  <a:schemeClr val="tx2"/>
                </a:solidFill>
              </a:rPr>
              <a:t>AI matching pipeline</a:t>
            </a:r>
            <a:endParaRPr lang="en-US" sz="3400" dirty="0"/>
          </a:p>
        </p:txBody>
      </p:sp>
      <p:sp>
        <p:nvSpPr>
          <p:cNvPr id="4" name="Shape 1"/>
          <p:cNvSpPr/>
          <p:nvPr/>
        </p:nvSpPr>
        <p:spPr>
          <a:xfrm>
            <a:off x="457200" y="1280160"/>
            <a:ext cx="1499616" cy="2103120"/>
          </a:xfrm>
          <a:prstGeom prst="roundRect">
            <a:avLst>
              <a:gd name="adj" fmla="val 4878"/>
            </a:avLst>
          </a:prstGeom>
          <a:solidFill>
            <a:schemeClr val="bg2"/>
          </a:solidFill>
          <a:ln/>
        </p:spPr>
      </p:sp>
      <p:sp>
        <p:nvSpPr>
          <p:cNvPr id="5" name="Step 1"/>
          <p:cNvSpPr/>
          <p:nvPr/>
        </p:nvSpPr>
        <p:spPr>
          <a:xfrm>
            <a:off x="594360" y="1417320"/>
            <a:ext cx="457200" cy="457200"/>
          </a:xfrm>
          <a:prstGeom prst="ellipse">
            <a:avLst/>
          </a:prstGeom>
          <a:solidFill>
            <a:schemeClr val="accent1"/>
          </a:solidFill>
          <a:ln/>
        </p:spPr>
      </p:sp>
      <p:sp>
        <p:nvSpPr>
          <p:cNvPr id="6" name="Text 3"/>
          <p:cNvSpPr txBox="1"/>
          <p:nvPr/>
        </p:nvSpPr>
        <p:spPr>
          <a:xfrm>
            <a:off x="594360" y="1417320"/>
            <a:ext cx="457200" cy="457200"/>
          </a:xfrm>
          <a:prstGeom prst="rect">
            <a:avLst/>
          </a:prstGeom>
          <a:noFill/>
          <a:ln/>
        </p:spPr>
        <p:txBody>
          <a:bodyPr wrap="square" lIns="0" tIns="0" rIns="0" bIns="0" rtlCol="0" anchor="ctr"/>
          <a:lstStyle/>
          <a:p>
            <a:pPr marL="0" indent="0" algn="ctr">
              <a:buNone/>
            </a:pPr>
            <a:r>
              <a:rPr lang="en-US" sz="1600" b="1" dirty="0">
                <a:solidFill>
                  <a:schemeClr val="bg1"/>
                </a:solidFill>
              </a:rPr>
              <a:t>1</a:t>
            </a:r>
            <a:endParaRPr lang="en-US" sz="1600" dirty="0"/>
          </a:p>
        </p:txBody>
      </p:sp>
      <p:sp>
        <p:nvSpPr>
          <p:cNvPr id="7" name="Text 4"/>
          <p:cNvSpPr txBox="1"/>
          <p:nvPr/>
        </p:nvSpPr>
        <p:spPr>
          <a:xfrm>
            <a:off x="594360" y="2011680"/>
            <a:ext cx="1280160" cy="320040"/>
          </a:xfrm>
          <a:prstGeom prst="rect">
            <a:avLst/>
          </a:prstGeom>
          <a:noFill/>
          <a:ln/>
        </p:spPr>
        <p:txBody>
          <a:bodyPr wrap="square" lIns="0" tIns="0" rIns="0" bIns="0" rtlCol="0" anchor="t"/>
          <a:lstStyle/>
          <a:p>
            <a:pPr marL="0" indent="0" algn="l">
              <a:buNone/>
            </a:pPr>
            <a:r>
              <a:rPr lang="en-US" sz="1600" b="1" dirty="0">
                <a:solidFill>
                  <a:schemeClr val="tx2"/>
                </a:solidFill>
              </a:rPr>
              <a:t>Item created</a:t>
            </a:r>
            <a:endParaRPr lang="en-US" sz="1600" dirty="0"/>
          </a:p>
        </p:txBody>
      </p:sp>
      <p:sp>
        <p:nvSpPr>
          <p:cNvPr id="8" name="Text 5"/>
          <p:cNvSpPr txBox="1"/>
          <p:nvPr/>
        </p:nvSpPr>
        <p:spPr>
          <a:xfrm>
            <a:off x="594360" y="2377440"/>
            <a:ext cx="1280160" cy="914400"/>
          </a:xfrm>
          <a:prstGeom prst="rect">
            <a:avLst/>
          </a:prstGeom>
          <a:noFill/>
          <a:ln/>
        </p:spPr>
        <p:txBody>
          <a:bodyPr wrap="square" lIns="0" tIns="0" rIns="0" bIns="0" rtlCol="0" anchor="t"/>
          <a:lstStyle/>
          <a:p>
            <a:pPr marL="0" indent="0" algn="l">
              <a:buNone/>
            </a:pPr>
            <a:r>
              <a:rPr lang="en-US" sz="1400" dirty="0">
                <a:solidFill>
                  <a:schemeClr val="tx1"/>
                </a:solidFill>
              </a:rPr>
              <a:t>User posts title and details</a:t>
            </a:r>
            <a:endParaRPr lang="en-US" sz="1400" dirty="0"/>
          </a:p>
        </p:txBody>
      </p:sp>
      <p:sp>
        <p:nvSpPr>
          <p:cNvPr id="9" name="Flow arrow"/>
          <p:cNvSpPr/>
          <p:nvPr/>
        </p:nvSpPr>
        <p:spPr>
          <a:xfrm>
            <a:off x="1956816" y="2331720"/>
            <a:ext cx="182880" cy="0"/>
          </a:xfrm>
          <a:prstGeom prst="line">
            <a:avLst/>
          </a:prstGeom>
          <a:noFill/>
          <a:ln w="25400">
            <a:solidFill>
              <a:schemeClr val="accent6"/>
            </a:solidFill>
            <a:prstDash val="solid"/>
            <a:tailEnd type="triangle"/>
          </a:ln>
        </p:spPr>
      </p:sp>
      <p:sp>
        <p:nvSpPr>
          <p:cNvPr id="10" name="Shape 7"/>
          <p:cNvSpPr/>
          <p:nvPr/>
        </p:nvSpPr>
        <p:spPr>
          <a:xfrm>
            <a:off x="2139696" y="1280160"/>
            <a:ext cx="1499616" cy="2103120"/>
          </a:xfrm>
          <a:prstGeom prst="roundRect">
            <a:avLst>
              <a:gd name="adj" fmla="val 4878"/>
            </a:avLst>
          </a:prstGeom>
          <a:solidFill>
            <a:schemeClr val="bg2"/>
          </a:solidFill>
          <a:ln/>
        </p:spPr>
      </p:sp>
      <p:sp>
        <p:nvSpPr>
          <p:cNvPr id="11" name="Step 2"/>
          <p:cNvSpPr/>
          <p:nvPr/>
        </p:nvSpPr>
        <p:spPr>
          <a:xfrm>
            <a:off x="2276856" y="1417320"/>
            <a:ext cx="457200" cy="457200"/>
          </a:xfrm>
          <a:prstGeom prst="ellipse">
            <a:avLst/>
          </a:prstGeom>
          <a:solidFill>
            <a:schemeClr val="accent1"/>
          </a:solidFill>
          <a:ln/>
        </p:spPr>
      </p:sp>
      <p:sp>
        <p:nvSpPr>
          <p:cNvPr id="12" name="Text 9"/>
          <p:cNvSpPr txBox="1"/>
          <p:nvPr/>
        </p:nvSpPr>
        <p:spPr>
          <a:xfrm>
            <a:off x="2276856" y="1417320"/>
            <a:ext cx="457200" cy="457200"/>
          </a:xfrm>
          <a:prstGeom prst="rect">
            <a:avLst/>
          </a:prstGeom>
          <a:noFill/>
          <a:ln/>
        </p:spPr>
        <p:txBody>
          <a:bodyPr wrap="square" lIns="0" tIns="0" rIns="0" bIns="0" rtlCol="0" anchor="ctr"/>
          <a:lstStyle/>
          <a:p>
            <a:pPr marL="0" indent="0" algn="ctr">
              <a:buNone/>
            </a:pPr>
            <a:r>
              <a:rPr lang="en-US" sz="1600" b="1" dirty="0">
                <a:solidFill>
                  <a:schemeClr val="bg1"/>
                </a:solidFill>
              </a:rPr>
              <a:t>2</a:t>
            </a:r>
            <a:endParaRPr lang="en-US" sz="1600" dirty="0"/>
          </a:p>
        </p:txBody>
      </p:sp>
      <p:sp>
        <p:nvSpPr>
          <p:cNvPr id="13" name="Text 10"/>
          <p:cNvSpPr txBox="1"/>
          <p:nvPr/>
        </p:nvSpPr>
        <p:spPr>
          <a:xfrm>
            <a:off x="2276856" y="2011680"/>
            <a:ext cx="1280160" cy="320040"/>
          </a:xfrm>
          <a:prstGeom prst="rect">
            <a:avLst/>
          </a:prstGeom>
          <a:noFill/>
          <a:ln/>
        </p:spPr>
        <p:txBody>
          <a:bodyPr wrap="square" lIns="0" tIns="0" rIns="0" bIns="0" rtlCol="0" anchor="t"/>
          <a:lstStyle/>
          <a:p>
            <a:pPr marL="0" indent="0" algn="l">
              <a:buNone/>
            </a:pPr>
            <a:r>
              <a:rPr lang="en-US" sz="1600" b="1" dirty="0">
                <a:solidFill>
                  <a:schemeClr val="tx2"/>
                </a:solidFill>
              </a:rPr>
              <a:t>Embedding</a:t>
            </a:r>
            <a:endParaRPr lang="en-US" sz="1600" dirty="0"/>
          </a:p>
        </p:txBody>
      </p:sp>
      <p:sp>
        <p:nvSpPr>
          <p:cNvPr id="14" name="Text 11"/>
          <p:cNvSpPr txBox="1"/>
          <p:nvPr/>
        </p:nvSpPr>
        <p:spPr>
          <a:xfrm>
            <a:off x="2276856" y="2377440"/>
            <a:ext cx="1280160" cy="914400"/>
          </a:xfrm>
          <a:prstGeom prst="rect">
            <a:avLst/>
          </a:prstGeom>
          <a:noFill/>
          <a:ln/>
        </p:spPr>
        <p:txBody>
          <a:bodyPr wrap="square" lIns="0" tIns="0" rIns="0" bIns="0" rtlCol="0" anchor="t"/>
          <a:lstStyle/>
          <a:p>
            <a:pPr marL="0" indent="0" algn="l">
              <a:buNone/>
            </a:pPr>
            <a:r>
              <a:rPr lang="en-US" sz="1400" dirty="0">
                <a:solidFill>
                  <a:schemeClr val="tx1"/>
                </a:solidFill>
              </a:rPr>
              <a:t>gte-small makes a 384-dim vector</a:t>
            </a:r>
            <a:endParaRPr lang="en-US" sz="1400" dirty="0"/>
          </a:p>
        </p:txBody>
      </p:sp>
      <p:sp>
        <p:nvSpPr>
          <p:cNvPr id="15" name="Flow arrow"/>
          <p:cNvSpPr/>
          <p:nvPr/>
        </p:nvSpPr>
        <p:spPr>
          <a:xfrm>
            <a:off x="3639312" y="2331720"/>
            <a:ext cx="182880" cy="0"/>
          </a:xfrm>
          <a:prstGeom prst="line">
            <a:avLst/>
          </a:prstGeom>
          <a:noFill/>
          <a:ln w="25400">
            <a:solidFill>
              <a:schemeClr val="accent6"/>
            </a:solidFill>
            <a:prstDash val="solid"/>
            <a:tailEnd type="triangle"/>
          </a:ln>
        </p:spPr>
      </p:sp>
      <p:sp>
        <p:nvSpPr>
          <p:cNvPr id="16" name="Shape 13"/>
          <p:cNvSpPr/>
          <p:nvPr/>
        </p:nvSpPr>
        <p:spPr>
          <a:xfrm>
            <a:off x="3822192" y="1280160"/>
            <a:ext cx="1499616" cy="2103120"/>
          </a:xfrm>
          <a:prstGeom prst="roundRect">
            <a:avLst>
              <a:gd name="adj" fmla="val 4878"/>
            </a:avLst>
          </a:prstGeom>
          <a:solidFill>
            <a:schemeClr val="bg2"/>
          </a:solidFill>
          <a:ln/>
        </p:spPr>
      </p:sp>
      <p:sp>
        <p:nvSpPr>
          <p:cNvPr id="17" name="Step 3"/>
          <p:cNvSpPr/>
          <p:nvPr/>
        </p:nvSpPr>
        <p:spPr>
          <a:xfrm>
            <a:off x="3959352" y="1417320"/>
            <a:ext cx="457200" cy="457200"/>
          </a:xfrm>
          <a:prstGeom prst="ellipse">
            <a:avLst/>
          </a:prstGeom>
          <a:solidFill>
            <a:schemeClr val="accent1"/>
          </a:solidFill>
          <a:ln/>
        </p:spPr>
      </p:sp>
      <p:sp>
        <p:nvSpPr>
          <p:cNvPr id="18" name="Text 15"/>
          <p:cNvSpPr txBox="1"/>
          <p:nvPr/>
        </p:nvSpPr>
        <p:spPr>
          <a:xfrm>
            <a:off x="3959352" y="1417320"/>
            <a:ext cx="457200" cy="457200"/>
          </a:xfrm>
          <a:prstGeom prst="rect">
            <a:avLst/>
          </a:prstGeom>
          <a:noFill/>
          <a:ln/>
        </p:spPr>
        <p:txBody>
          <a:bodyPr wrap="square" lIns="0" tIns="0" rIns="0" bIns="0" rtlCol="0" anchor="ctr"/>
          <a:lstStyle/>
          <a:p>
            <a:pPr marL="0" indent="0" algn="ctr">
              <a:buNone/>
            </a:pPr>
            <a:r>
              <a:rPr lang="en-US" sz="1600" b="1" dirty="0">
                <a:solidFill>
                  <a:schemeClr val="bg1"/>
                </a:solidFill>
              </a:rPr>
              <a:t>3</a:t>
            </a:r>
            <a:endParaRPr lang="en-US" sz="1600" dirty="0"/>
          </a:p>
        </p:txBody>
      </p:sp>
      <p:sp>
        <p:nvSpPr>
          <p:cNvPr id="19" name="Text 16"/>
          <p:cNvSpPr txBox="1"/>
          <p:nvPr/>
        </p:nvSpPr>
        <p:spPr>
          <a:xfrm>
            <a:off x="3959352" y="2011680"/>
            <a:ext cx="1280160" cy="320040"/>
          </a:xfrm>
          <a:prstGeom prst="rect">
            <a:avLst/>
          </a:prstGeom>
          <a:noFill/>
          <a:ln/>
        </p:spPr>
        <p:txBody>
          <a:bodyPr wrap="square" lIns="0" tIns="0" rIns="0" bIns="0" rtlCol="0" anchor="t"/>
          <a:lstStyle/>
          <a:p>
            <a:pPr marL="0" indent="0" algn="l">
              <a:buNone/>
            </a:pPr>
            <a:r>
              <a:rPr lang="en-US" sz="1600" b="1" dirty="0">
                <a:solidFill>
                  <a:schemeClr val="tx2"/>
                </a:solidFill>
              </a:rPr>
              <a:t>Stored</a:t>
            </a:r>
            <a:endParaRPr lang="en-US" sz="1600" dirty="0"/>
          </a:p>
        </p:txBody>
      </p:sp>
      <p:sp>
        <p:nvSpPr>
          <p:cNvPr id="20" name="Text 17"/>
          <p:cNvSpPr txBox="1"/>
          <p:nvPr/>
        </p:nvSpPr>
        <p:spPr>
          <a:xfrm>
            <a:off x="3959352" y="2377440"/>
            <a:ext cx="1280160" cy="914400"/>
          </a:xfrm>
          <a:prstGeom prst="rect">
            <a:avLst/>
          </a:prstGeom>
          <a:noFill/>
          <a:ln/>
        </p:spPr>
        <p:txBody>
          <a:bodyPr wrap="square" lIns="0" tIns="0" rIns="0" bIns="0" rtlCol="0" anchor="t"/>
          <a:lstStyle/>
          <a:p>
            <a:pPr marL="0" indent="0" algn="l">
              <a:buNone/>
            </a:pPr>
            <a:r>
              <a:rPr lang="en-US" sz="1400" dirty="0">
                <a:solidFill>
                  <a:schemeClr val="tx1"/>
                </a:solidFill>
              </a:rPr>
              <a:t>Saved in a pgvector column</a:t>
            </a:r>
            <a:endParaRPr lang="en-US" sz="1400" dirty="0"/>
          </a:p>
        </p:txBody>
      </p:sp>
      <p:sp>
        <p:nvSpPr>
          <p:cNvPr id="21" name="Flow arrow"/>
          <p:cNvSpPr/>
          <p:nvPr/>
        </p:nvSpPr>
        <p:spPr>
          <a:xfrm>
            <a:off x="5321808" y="2331720"/>
            <a:ext cx="182880" cy="0"/>
          </a:xfrm>
          <a:prstGeom prst="line">
            <a:avLst/>
          </a:prstGeom>
          <a:noFill/>
          <a:ln w="25400">
            <a:solidFill>
              <a:schemeClr val="accent6"/>
            </a:solidFill>
            <a:prstDash val="solid"/>
            <a:tailEnd type="triangle"/>
          </a:ln>
        </p:spPr>
      </p:sp>
      <p:sp>
        <p:nvSpPr>
          <p:cNvPr id="22" name="Shape 19"/>
          <p:cNvSpPr/>
          <p:nvPr/>
        </p:nvSpPr>
        <p:spPr>
          <a:xfrm>
            <a:off x="5504688" y="1280160"/>
            <a:ext cx="1499616" cy="2103120"/>
          </a:xfrm>
          <a:prstGeom prst="roundRect">
            <a:avLst>
              <a:gd name="adj" fmla="val 4878"/>
            </a:avLst>
          </a:prstGeom>
          <a:solidFill>
            <a:schemeClr val="bg2"/>
          </a:solidFill>
          <a:ln/>
        </p:spPr>
      </p:sp>
      <p:sp>
        <p:nvSpPr>
          <p:cNvPr id="23" name="Step 4"/>
          <p:cNvSpPr/>
          <p:nvPr/>
        </p:nvSpPr>
        <p:spPr>
          <a:xfrm>
            <a:off x="5641848" y="1417320"/>
            <a:ext cx="457200" cy="457200"/>
          </a:xfrm>
          <a:prstGeom prst="ellipse">
            <a:avLst/>
          </a:prstGeom>
          <a:solidFill>
            <a:schemeClr val="accent1"/>
          </a:solidFill>
          <a:ln/>
        </p:spPr>
      </p:sp>
      <p:sp>
        <p:nvSpPr>
          <p:cNvPr id="24" name="Text 21"/>
          <p:cNvSpPr txBox="1"/>
          <p:nvPr/>
        </p:nvSpPr>
        <p:spPr>
          <a:xfrm>
            <a:off x="5641848" y="1417320"/>
            <a:ext cx="457200" cy="457200"/>
          </a:xfrm>
          <a:prstGeom prst="rect">
            <a:avLst/>
          </a:prstGeom>
          <a:noFill/>
          <a:ln/>
        </p:spPr>
        <p:txBody>
          <a:bodyPr wrap="square" lIns="0" tIns="0" rIns="0" bIns="0" rtlCol="0" anchor="ctr"/>
          <a:lstStyle/>
          <a:p>
            <a:pPr marL="0" indent="0" algn="ctr">
              <a:buNone/>
            </a:pPr>
            <a:r>
              <a:rPr lang="en-US" sz="1600" b="1" dirty="0">
                <a:solidFill>
                  <a:schemeClr val="bg1"/>
                </a:solidFill>
              </a:rPr>
              <a:t>4</a:t>
            </a:r>
            <a:endParaRPr lang="en-US" sz="1600" dirty="0"/>
          </a:p>
        </p:txBody>
      </p:sp>
      <p:sp>
        <p:nvSpPr>
          <p:cNvPr id="25" name="Text 22"/>
          <p:cNvSpPr txBox="1"/>
          <p:nvPr/>
        </p:nvSpPr>
        <p:spPr>
          <a:xfrm>
            <a:off x="5641848" y="2011680"/>
            <a:ext cx="1280160" cy="320040"/>
          </a:xfrm>
          <a:prstGeom prst="rect">
            <a:avLst/>
          </a:prstGeom>
          <a:noFill/>
          <a:ln/>
        </p:spPr>
        <p:txBody>
          <a:bodyPr wrap="square" lIns="0" tIns="0" rIns="0" bIns="0" rtlCol="0" anchor="t"/>
          <a:lstStyle/>
          <a:p>
            <a:pPr marL="0" indent="0" algn="l">
              <a:buNone/>
            </a:pPr>
            <a:r>
              <a:rPr lang="en-US" sz="1600" b="1" dirty="0">
                <a:solidFill>
                  <a:schemeClr val="tx2"/>
                </a:solidFill>
              </a:rPr>
              <a:t>Query</a:t>
            </a:r>
            <a:endParaRPr lang="en-US" sz="1600" dirty="0"/>
          </a:p>
        </p:txBody>
      </p:sp>
      <p:sp>
        <p:nvSpPr>
          <p:cNvPr id="26" name="Text 23"/>
          <p:cNvSpPr txBox="1"/>
          <p:nvPr/>
        </p:nvSpPr>
        <p:spPr>
          <a:xfrm>
            <a:off x="5641848" y="2377440"/>
            <a:ext cx="1280160" cy="914400"/>
          </a:xfrm>
          <a:prstGeom prst="rect">
            <a:avLst/>
          </a:prstGeom>
          <a:noFill/>
          <a:ln/>
        </p:spPr>
        <p:txBody>
          <a:bodyPr wrap="square" lIns="0" tIns="0" rIns="0" bIns="0" rtlCol="0" anchor="t"/>
          <a:lstStyle/>
          <a:p>
            <a:pPr marL="0" indent="0" algn="l">
              <a:buNone/>
            </a:pPr>
            <a:r>
              <a:rPr lang="en-US" sz="1400" dirty="0">
                <a:solidFill>
                  <a:schemeClr val="tx1"/>
                </a:solidFill>
              </a:rPr>
              <a:t>Cosine distance vs. opposite status</a:t>
            </a:r>
            <a:endParaRPr lang="en-US" sz="1400" dirty="0"/>
          </a:p>
        </p:txBody>
      </p:sp>
      <p:sp>
        <p:nvSpPr>
          <p:cNvPr id="27" name="Flow arrow"/>
          <p:cNvSpPr/>
          <p:nvPr/>
        </p:nvSpPr>
        <p:spPr>
          <a:xfrm>
            <a:off x="7004304" y="2331720"/>
            <a:ext cx="182880" cy="0"/>
          </a:xfrm>
          <a:prstGeom prst="line">
            <a:avLst/>
          </a:prstGeom>
          <a:noFill/>
          <a:ln w="25400">
            <a:solidFill>
              <a:schemeClr val="accent6"/>
            </a:solidFill>
            <a:prstDash val="solid"/>
            <a:tailEnd type="triangle"/>
          </a:ln>
        </p:spPr>
      </p:sp>
      <p:sp>
        <p:nvSpPr>
          <p:cNvPr id="28" name="Shape 25"/>
          <p:cNvSpPr/>
          <p:nvPr/>
        </p:nvSpPr>
        <p:spPr>
          <a:xfrm>
            <a:off x="7187184" y="1280160"/>
            <a:ext cx="1499616" cy="2103120"/>
          </a:xfrm>
          <a:prstGeom prst="roundRect">
            <a:avLst>
              <a:gd name="adj" fmla="val 4878"/>
            </a:avLst>
          </a:prstGeom>
          <a:solidFill>
            <a:schemeClr val="bg2"/>
          </a:solidFill>
          <a:ln/>
        </p:spPr>
      </p:sp>
      <p:sp>
        <p:nvSpPr>
          <p:cNvPr id="29" name="Step 5"/>
          <p:cNvSpPr/>
          <p:nvPr/>
        </p:nvSpPr>
        <p:spPr>
          <a:xfrm>
            <a:off x="7324344" y="1417320"/>
            <a:ext cx="457200" cy="457200"/>
          </a:xfrm>
          <a:prstGeom prst="ellipse">
            <a:avLst/>
          </a:prstGeom>
          <a:solidFill>
            <a:schemeClr val="accent4"/>
          </a:solidFill>
          <a:ln/>
        </p:spPr>
      </p:sp>
      <p:sp>
        <p:nvSpPr>
          <p:cNvPr id="30" name="Text 27"/>
          <p:cNvSpPr txBox="1"/>
          <p:nvPr/>
        </p:nvSpPr>
        <p:spPr>
          <a:xfrm>
            <a:off x="7324344" y="1417320"/>
            <a:ext cx="457200" cy="457200"/>
          </a:xfrm>
          <a:prstGeom prst="rect">
            <a:avLst/>
          </a:prstGeom>
          <a:noFill/>
          <a:ln/>
        </p:spPr>
        <p:txBody>
          <a:bodyPr wrap="square" lIns="0" tIns="0" rIns="0" bIns="0" rtlCol="0" anchor="ctr"/>
          <a:lstStyle/>
          <a:p>
            <a:pPr marL="0" indent="0" algn="ctr">
              <a:buNone/>
            </a:pPr>
            <a:r>
              <a:rPr lang="en-US" sz="1600" b="1" dirty="0">
                <a:solidFill>
                  <a:schemeClr val="bg1"/>
                </a:solidFill>
              </a:rPr>
              <a:t>5</a:t>
            </a:r>
            <a:endParaRPr lang="en-US" sz="1600" dirty="0"/>
          </a:p>
        </p:txBody>
      </p:sp>
      <p:sp>
        <p:nvSpPr>
          <p:cNvPr id="31" name="Text 28"/>
          <p:cNvSpPr txBox="1"/>
          <p:nvPr/>
        </p:nvSpPr>
        <p:spPr>
          <a:xfrm>
            <a:off x="7324344" y="2011680"/>
            <a:ext cx="1280160" cy="320040"/>
          </a:xfrm>
          <a:prstGeom prst="rect">
            <a:avLst/>
          </a:prstGeom>
          <a:noFill/>
          <a:ln/>
        </p:spPr>
        <p:txBody>
          <a:bodyPr wrap="square" lIns="0" tIns="0" rIns="0" bIns="0" rtlCol="0" anchor="t"/>
          <a:lstStyle/>
          <a:p>
            <a:pPr marL="0" indent="0" algn="l">
              <a:buNone/>
            </a:pPr>
            <a:r>
              <a:rPr lang="en-US" sz="1600" b="1" dirty="0">
                <a:solidFill>
                  <a:schemeClr val="tx2"/>
                </a:solidFill>
              </a:rPr>
              <a:t>Match</a:t>
            </a:r>
            <a:endParaRPr lang="en-US" sz="1600" dirty="0"/>
          </a:p>
        </p:txBody>
      </p:sp>
      <p:sp>
        <p:nvSpPr>
          <p:cNvPr id="32" name="Text 29"/>
          <p:cNvSpPr txBox="1"/>
          <p:nvPr/>
        </p:nvSpPr>
        <p:spPr>
          <a:xfrm>
            <a:off x="7324344" y="2377440"/>
            <a:ext cx="1280160" cy="914400"/>
          </a:xfrm>
          <a:prstGeom prst="rect">
            <a:avLst/>
          </a:prstGeom>
          <a:noFill/>
          <a:ln/>
        </p:spPr>
        <p:txBody>
          <a:bodyPr wrap="square" lIns="0" tIns="0" rIns="0" bIns="0" rtlCol="0" anchor="t"/>
          <a:lstStyle/>
          <a:p>
            <a:pPr marL="0" indent="0" algn="l">
              <a:buNone/>
            </a:pPr>
            <a:r>
              <a:rPr lang="en-US" sz="1400" dirty="0">
                <a:solidFill>
                  <a:schemeClr val="tx1"/>
                </a:solidFill>
              </a:rPr>
              <a:t>Above threshold, shown with a %</a:t>
            </a:r>
            <a:endParaRPr lang="en-US" sz="1400" dirty="0"/>
          </a:p>
        </p:txBody>
      </p:sp>
      <p:sp>
        <p:nvSpPr>
          <p:cNvPr id="33" name="Shape 30"/>
          <p:cNvSpPr/>
          <p:nvPr/>
        </p:nvSpPr>
        <p:spPr>
          <a:xfrm>
            <a:off x="457200" y="3657600"/>
            <a:ext cx="8229600" cy="822960"/>
          </a:xfrm>
          <a:prstGeom prst="roundRect">
            <a:avLst>
              <a:gd name="adj" fmla="val 8889"/>
            </a:avLst>
          </a:prstGeom>
          <a:solidFill>
            <a:schemeClr val="tx2"/>
          </a:solidFill>
          <a:ln/>
        </p:spPr>
      </p:sp>
      <p:sp>
        <p:nvSpPr>
          <p:cNvPr id="34" name="Text 31"/>
          <p:cNvSpPr txBox="1"/>
          <p:nvPr/>
        </p:nvSpPr>
        <p:spPr>
          <a:xfrm>
            <a:off x="731520" y="3657600"/>
            <a:ext cx="7680960" cy="594360"/>
          </a:xfrm>
          <a:prstGeom prst="rect">
            <a:avLst/>
          </a:prstGeom>
          <a:noFill/>
          <a:ln/>
        </p:spPr>
        <p:txBody>
          <a:bodyPr wrap="square" lIns="0" tIns="0" rIns="0" bIns="0" rtlCol="0" anchor="ctr"/>
          <a:lstStyle/>
          <a:p>
            <a:pPr marL="0" indent="0" algn="l">
              <a:buNone/>
            </a:pPr>
            <a:r>
              <a:rPr lang="en-US" sz="1800" dirty="0">
                <a:solidFill>
                  <a:schemeClr val="bg1"/>
                </a:solidFill>
              </a:rPr>
              <a:t>“black leather wallet”  ≈  “dark billfold with cards”   →   </a:t>
            </a:r>
            <a:r>
              <a:rPr lang="en-US" sz="1800" b="1" dirty="0">
                <a:solidFill>
                  <a:schemeClr val="accent2"/>
                </a:solidFill>
              </a:rPr>
              <a:t>87% match</a:t>
            </a:r>
            <a:endParaRPr lang="en-US" sz="1800" dirty="0"/>
          </a:p>
        </p:txBody>
      </p:sp>
      <p:sp>
        <p:nvSpPr>
          <p:cNvPr id="35" name="Text 32"/>
          <p:cNvSpPr txBox="1"/>
          <p:nvPr/>
        </p:nvSpPr>
        <p:spPr>
          <a:xfrm>
            <a:off x="731520" y="4206240"/>
            <a:ext cx="7680960" cy="228600"/>
          </a:xfrm>
          <a:prstGeom prst="rect">
            <a:avLst/>
          </a:prstGeom>
          <a:noFill/>
          <a:ln/>
        </p:spPr>
        <p:txBody>
          <a:bodyPr wrap="square" lIns="0" tIns="0" rIns="0" bIns="0" rtlCol="0" anchor="t"/>
          <a:lstStyle/>
          <a:p>
            <a:pPr marL="0" indent="0" algn="l">
              <a:buNone/>
            </a:pPr>
            <a:r>
              <a:rPr lang="en-US" sz="1200" dirty="0">
                <a:solidFill>
                  <a:schemeClr val="bg2"/>
                </a:solidFill>
              </a:rPr>
              <a:t>Illustrative example</a:t>
            </a:r>
            <a:endParaRPr lang="en-US" sz="1200" dirty="0"/>
          </a:p>
        </p:txBody>
      </p:sp>
      <p:sp>
        <p:nvSpPr>
          <p:cNvPr id="3"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320040"/>
            <a:ext cx="8229600" cy="731520"/>
          </a:xfrm>
          <a:prstGeom prst="rect">
            <a:avLst/>
          </a:prstGeom>
          <a:noFill/>
          <a:ln/>
        </p:spPr>
        <p:txBody>
          <a:bodyPr wrap="square" lIns="0" tIns="0" rIns="0" bIns="0" rtlCol="0" anchor="ctr"/>
          <a:lstStyle/>
          <a:p>
            <a:pPr marL="0" indent="0" algn="l">
              <a:buNone/>
            </a:pPr>
            <a:r>
              <a:rPr lang="en-US" sz="3400" b="1" dirty="0">
                <a:solidFill>
                  <a:schemeClr val="tx2"/>
                </a:solidFill>
              </a:rPr>
              <a:t>Claims flow</a:t>
            </a:r>
            <a:endParaRPr lang="en-US" sz="3400" dirty="0"/>
          </a:p>
        </p:txBody>
      </p:sp>
      <p:sp>
        <p:nvSpPr>
          <p:cNvPr id="4" name="Shape 1"/>
          <p:cNvSpPr/>
          <p:nvPr/>
        </p:nvSpPr>
        <p:spPr>
          <a:xfrm>
            <a:off x="457200" y="1280160"/>
            <a:ext cx="2194560" cy="1371600"/>
          </a:xfrm>
          <a:prstGeom prst="roundRect">
            <a:avLst>
              <a:gd name="adj" fmla="val 5333"/>
            </a:avLst>
          </a:prstGeom>
          <a:solidFill>
            <a:schemeClr val="bg2"/>
          </a:solidFill>
          <a:ln/>
        </p:spPr>
      </p:sp>
      <p:sp>
        <p:nvSpPr>
          <p:cNvPr id="5" name="Icon circle FaUserCheck"/>
          <p:cNvSpPr/>
          <p:nvPr/>
        </p:nvSpPr>
        <p:spPr>
          <a:xfrm>
            <a:off x="640080" y="1463040"/>
            <a:ext cx="548640" cy="548640"/>
          </a:xfrm>
          <a:prstGeom prst="ellipse">
            <a:avLst/>
          </a:prstGeom>
          <a:solidFill>
            <a:schemeClr val="accent1"/>
          </a:solidFill>
          <a:ln/>
        </p:spPr>
      </p:sp>
      <p:pic>
        <p:nvPicPr>
          <p:cNvPr id="6" name="Image 0" descr="UserCheck icon"/>
          <p:cNvPicPr>
            <a:picLocks noChangeAspect="1"/>
          </p:cNvPicPr>
          <p:nvPr/>
        </p:nvPicPr>
        <p:blipFill>
          <a:blip r:embed="rId3"/>
          <a:stretch>
            <a:fillRect/>
          </a:stretch>
        </p:blipFill>
        <p:spPr>
          <a:xfrm>
            <a:off x="777240" y="1600200"/>
            <a:ext cx="274320" cy="274320"/>
          </a:xfrm>
          <a:prstGeom prst="rect">
            <a:avLst/>
          </a:prstGeom>
        </p:spPr>
      </p:pic>
      <p:sp>
        <p:nvSpPr>
          <p:cNvPr id="7" name="Text 3"/>
          <p:cNvSpPr txBox="1"/>
          <p:nvPr/>
        </p:nvSpPr>
        <p:spPr>
          <a:xfrm>
            <a:off x="1325880" y="1463040"/>
            <a:ext cx="1234440" cy="548640"/>
          </a:xfrm>
          <a:prstGeom prst="rect">
            <a:avLst/>
          </a:prstGeom>
          <a:noFill/>
          <a:ln/>
        </p:spPr>
        <p:txBody>
          <a:bodyPr wrap="square" lIns="0" tIns="0" rIns="0" bIns="0" rtlCol="0" anchor="ctr"/>
          <a:lstStyle/>
          <a:p>
            <a:pPr marL="0" indent="0" algn="l">
              <a:buNone/>
            </a:pPr>
            <a:r>
              <a:rPr lang="en-US" sz="1600" b="1" dirty="0">
                <a:solidFill>
                  <a:schemeClr val="tx2"/>
                </a:solidFill>
              </a:rPr>
              <a:t>Claim submitted</a:t>
            </a:r>
            <a:endParaRPr lang="en-US" sz="1600" dirty="0"/>
          </a:p>
        </p:txBody>
      </p:sp>
      <p:sp>
        <p:nvSpPr>
          <p:cNvPr id="8" name="Text 4"/>
          <p:cNvSpPr txBox="1"/>
          <p:nvPr/>
        </p:nvSpPr>
        <p:spPr>
          <a:xfrm>
            <a:off x="640080" y="2103120"/>
            <a:ext cx="1874520" cy="502920"/>
          </a:xfrm>
          <a:prstGeom prst="rect">
            <a:avLst/>
          </a:prstGeom>
          <a:noFill/>
          <a:ln/>
        </p:spPr>
        <p:txBody>
          <a:bodyPr wrap="square" lIns="0" tIns="0" rIns="0" bIns="0" rtlCol="0" anchor="t"/>
          <a:lstStyle/>
          <a:p>
            <a:pPr marL="0" indent="0" algn="l">
              <a:buNone/>
            </a:pPr>
            <a:r>
              <a:rPr lang="en-US" sz="1400" dirty="0">
                <a:solidFill>
                  <a:schemeClr val="tx1"/>
                </a:solidFill>
              </a:rPr>
              <a:t>On a FOUND item, with a verification message</a:t>
            </a:r>
            <a:endParaRPr lang="en-US" sz="1400" dirty="0"/>
          </a:p>
        </p:txBody>
      </p:sp>
      <p:sp>
        <p:nvSpPr>
          <p:cNvPr id="9" name="Flow arrow"/>
          <p:cNvSpPr/>
          <p:nvPr/>
        </p:nvSpPr>
        <p:spPr>
          <a:xfrm>
            <a:off x="2651760" y="1965960"/>
            <a:ext cx="822960" cy="0"/>
          </a:xfrm>
          <a:prstGeom prst="line">
            <a:avLst/>
          </a:prstGeom>
          <a:noFill/>
          <a:ln w="25400">
            <a:solidFill>
              <a:schemeClr val="tx1"/>
            </a:solidFill>
            <a:prstDash val="solid"/>
            <a:tailEnd type="triangle"/>
          </a:ln>
        </p:spPr>
      </p:sp>
      <p:sp>
        <p:nvSpPr>
          <p:cNvPr id="10" name="Shape 6"/>
          <p:cNvSpPr/>
          <p:nvPr/>
        </p:nvSpPr>
        <p:spPr>
          <a:xfrm>
            <a:off x="3474720" y="1280160"/>
            <a:ext cx="2194560" cy="1371600"/>
          </a:xfrm>
          <a:prstGeom prst="roundRect">
            <a:avLst>
              <a:gd name="adj" fmla="val 5333"/>
            </a:avLst>
          </a:prstGeom>
          <a:solidFill>
            <a:schemeClr val="bg2"/>
          </a:solidFill>
          <a:ln/>
        </p:spPr>
      </p:sp>
      <p:sp>
        <p:nvSpPr>
          <p:cNvPr id="11" name="Icon circle FaBell"/>
          <p:cNvSpPr/>
          <p:nvPr/>
        </p:nvSpPr>
        <p:spPr>
          <a:xfrm>
            <a:off x="3657600" y="1463040"/>
            <a:ext cx="548640" cy="548640"/>
          </a:xfrm>
          <a:prstGeom prst="ellipse">
            <a:avLst/>
          </a:prstGeom>
          <a:solidFill>
            <a:schemeClr val="accent1"/>
          </a:solidFill>
          <a:ln/>
        </p:spPr>
      </p:sp>
      <p:pic>
        <p:nvPicPr>
          <p:cNvPr id="12" name="Image 1" descr="Bell icon"/>
          <p:cNvPicPr>
            <a:picLocks noChangeAspect="1"/>
          </p:cNvPicPr>
          <p:nvPr/>
        </p:nvPicPr>
        <p:blipFill>
          <a:blip r:embed="rId4"/>
          <a:stretch>
            <a:fillRect/>
          </a:stretch>
        </p:blipFill>
        <p:spPr>
          <a:xfrm>
            <a:off x="3794760" y="1600200"/>
            <a:ext cx="274320" cy="274320"/>
          </a:xfrm>
          <a:prstGeom prst="rect">
            <a:avLst/>
          </a:prstGeom>
        </p:spPr>
      </p:pic>
      <p:sp>
        <p:nvSpPr>
          <p:cNvPr id="13" name="Text 8"/>
          <p:cNvSpPr txBox="1"/>
          <p:nvPr/>
        </p:nvSpPr>
        <p:spPr>
          <a:xfrm>
            <a:off x="4343400" y="1463040"/>
            <a:ext cx="1234440" cy="548640"/>
          </a:xfrm>
          <a:prstGeom prst="rect">
            <a:avLst/>
          </a:prstGeom>
          <a:noFill/>
          <a:ln/>
        </p:spPr>
        <p:txBody>
          <a:bodyPr wrap="square" lIns="0" tIns="0" rIns="0" bIns="0" rtlCol="0" anchor="ctr"/>
          <a:lstStyle/>
          <a:p>
            <a:pPr marL="0" indent="0" algn="l">
              <a:buNone/>
            </a:pPr>
            <a:r>
              <a:rPr lang="en-US" sz="1600" b="1" dirty="0">
                <a:solidFill>
                  <a:schemeClr val="tx2"/>
                </a:solidFill>
              </a:rPr>
              <a:t>Owner notified</a:t>
            </a:r>
            <a:endParaRPr lang="en-US" sz="1600" dirty="0"/>
          </a:p>
        </p:txBody>
      </p:sp>
      <p:sp>
        <p:nvSpPr>
          <p:cNvPr id="14" name="Text 9"/>
          <p:cNvSpPr txBox="1"/>
          <p:nvPr/>
        </p:nvSpPr>
        <p:spPr>
          <a:xfrm>
            <a:off x="3657600" y="2103120"/>
            <a:ext cx="1874520" cy="502920"/>
          </a:xfrm>
          <a:prstGeom prst="rect">
            <a:avLst/>
          </a:prstGeom>
          <a:noFill/>
          <a:ln/>
        </p:spPr>
        <p:txBody>
          <a:bodyPr wrap="square" lIns="0" tIns="0" rIns="0" bIns="0" rtlCol="0" anchor="t"/>
          <a:lstStyle/>
          <a:p>
            <a:pPr marL="0" indent="0" algn="l">
              <a:buNone/>
            </a:pPr>
            <a:r>
              <a:rPr lang="en-US" sz="1400" dirty="0">
                <a:solidFill>
                  <a:schemeClr val="tx1"/>
                </a:solidFill>
              </a:rPr>
              <a:t>Instant Socket.IO toast</a:t>
            </a:r>
            <a:endParaRPr lang="en-US" sz="1400" dirty="0"/>
          </a:p>
        </p:txBody>
      </p:sp>
      <p:sp>
        <p:nvSpPr>
          <p:cNvPr id="15" name="Flow arrow"/>
          <p:cNvSpPr/>
          <p:nvPr/>
        </p:nvSpPr>
        <p:spPr>
          <a:xfrm>
            <a:off x="5669280" y="1965960"/>
            <a:ext cx="822960" cy="0"/>
          </a:xfrm>
          <a:prstGeom prst="line">
            <a:avLst/>
          </a:prstGeom>
          <a:noFill/>
          <a:ln w="25400">
            <a:solidFill>
              <a:schemeClr val="tx1"/>
            </a:solidFill>
            <a:prstDash val="solid"/>
            <a:tailEnd type="triangle"/>
          </a:ln>
        </p:spPr>
      </p:sp>
      <p:sp>
        <p:nvSpPr>
          <p:cNvPr id="16" name="Shape 11"/>
          <p:cNvSpPr/>
          <p:nvPr/>
        </p:nvSpPr>
        <p:spPr>
          <a:xfrm>
            <a:off x="6492240" y="1280160"/>
            <a:ext cx="2194560" cy="1371600"/>
          </a:xfrm>
          <a:prstGeom prst="roundRect">
            <a:avLst>
              <a:gd name="adj" fmla="val 5333"/>
            </a:avLst>
          </a:prstGeom>
          <a:solidFill>
            <a:schemeClr val="bg2"/>
          </a:solidFill>
          <a:ln/>
        </p:spPr>
      </p:sp>
      <p:sp>
        <p:nvSpPr>
          <p:cNvPr id="17" name="Icon circle FaClipboardList"/>
          <p:cNvSpPr/>
          <p:nvPr/>
        </p:nvSpPr>
        <p:spPr>
          <a:xfrm>
            <a:off x="6675120" y="1463040"/>
            <a:ext cx="548640" cy="548640"/>
          </a:xfrm>
          <a:prstGeom prst="ellipse">
            <a:avLst/>
          </a:prstGeom>
          <a:solidFill>
            <a:schemeClr val="accent1"/>
          </a:solidFill>
          <a:ln/>
        </p:spPr>
      </p:sp>
      <p:pic>
        <p:nvPicPr>
          <p:cNvPr id="18" name="Image 2" descr="ClipboardList icon"/>
          <p:cNvPicPr>
            <a:picLocks noChangeAspect="1"/>
          </p:cNvPicPr>
          <p:nvPr/>
        </p:nvPicPr>
        <p:blipFill>
          <a:blip r:embed="rId5"/>
          <a:stretch>
            <a:fillRect/>
          </a:stretch>
        </p:blipFill>
        <p:spPr>
          <a:xfrm>
            <a:off x="6812280" y="1600200"/>
            <a:ext cx="274320" cy="274320"/>
          </a:xfrm>
          <a:prstGeom prst="rect">
            <a:avLst/>
          </a:prstGeom>
        </p:spPr>
      </p:pic>
      <p:sp>
        <p:nvSpPr>
          <p:cNvPr id="19" name="Text 13"/>
          <p:cNvSpPr txBox="1"/>
          <p:nvPr/>
        </p:nvSpPr>
        <p:spPr>
          <a:xfrm>
            <a:off x="7360920" y="1463040"/>
            <a:ext cx="1234440" cy="548640"/>
          </a:xfrm>
          <a:prstGeom prst="rect">
            <a:avLst/>
          </a:prstGeom>
          <a:noFill/>
          <a:ln/>
        </p:spPr>
        <p:txBody>
          <a:bodyPr wrap="square" lIns="0" tIns="0" rIns="0" bIns="0" rtlCol="0" anchor="ctr"/>
          <a:lstStyle/>
          <a:p>
            <a:pPr marL="0" indent="0" algn="l">
              <a:buNone/>
            </a:pPr>
            <a:r>
              <a:rPr lang="en-US" sz="1600" b="1" dirty="0">
                <a:solidFill>
                  <a:schemeClr val="tx2"/>
                </a:solidFill>
              </a:rPr>
              <a:t>Owner reviews</a:t>
            </a:r>
            <a:endParaRPr lang="en-US" sz="1600" dirty="0"/>
          </a:p>
        </p:txBody>
      </p:sp>
      <p:sp>
        <p:nvSpPr>
          <p:cNvPr id="20" name="Text 14"/>
          <p:cNvSpPr txBox="1"/>
          <p:nvPr/>
        </p:nvSpPr>
        <p:spPr>
          <a:xfrm>
            <a:off x="6675120" y="2103120"/>
            <a:ext cx="1874520" cy="502920"/>
          </a:xfrm>
          <a:prstGeom prst="rect">
            <a:avLst/>
          </a:prstGeom>
          <a:noFill/>
          <a:ln/>
        </p:spPr>
        <p:txBody>
          <a:bodyPr wrap="square" lIns="0" tIns="0" rIns="0" bIns="0" rtlCol="0" anchor="t"/>
          <a:lstStyle/>
          <a:p>
            <a:pPr marL="0" indent="0" algn="l">
              <a:buNone/>
            </a:pPr>
            <a:r>
              <a:rPr lang="en-US" sz="1400" dirty="0">
                <a:solidFill>
                  <a:schemeClr val="tx1"/>
                </a:solidFill>
              </a:rPr>
              <a:t>Checks the message and decides</a:t>
            </a:r>
            <a:endParaRPr lang="en-US" sz="1400" dirty="0"/>
          </a:p>
        </p:txBody>
      </p:sp>
      <p:sp>
        <p:nvSpPr>
          <p:cNvPr id="21" name="Text 15"/>
          <p:cNvSpPr txBox="1"/>
          <p:nvPr/>
        </p:nvSpPr>
        <p:spPr>
          <a:xfrm>
            <a:off x="457200" y="2880360"/>
            <a:ext cx="8229600" cy="274320"/>
          </a:xfrm>
          <a:prstGeom prst="rect">
            <a:avLst/>
          </a:prstGeom>
          <a:noFill/>
          <a:ln/>
        </p:spPr>
        <p:txBody>
          <a:bodyPr wrap="square" lIns="0" tIns="0" rIns="0" bIns="0" rtlCol="0" anchor="t"/>
          <a:lstStyle/>
          <a:p>
            <a:pPr marL="0" indent="0" algn="l">
              <a:buNone/>
            </a:pPr>
            <a:r>
              <a:rPr lang="en-US" sz="1600" b="1" dirty="0">
                <a:solidFill>
                  <a:schemeClr val="tx2"/>
                </a:solidFill>
              </a:rPr>
              <a:t>Then the owner chooses</a:t>
            </a:r>
            <a:endParaRPr lang="en-US" sz="1600" dirty="0"/>
          </a:p>
        </p:txBody>
      </p:sp>
      <p:sp>
        <p:nvSpPr>
          <p:cNvPr id="22" name="Shape 16"/>
          <p:cNvSpPr/>
          <p:nvPr/>
        </p:nvSpPr>
        <p:spPr>
          <a:xfrm>
            <a:off x="457200" y="3246120"/>
            <a:ext cx="4023360" cy="1188720"/>
          </a:xfrm>
          <a:prstGeom prst="roundRect">
            <a:avLst>
              <a:gd name="adj" fmla="val 6154"/>
            </a:avLst>
          </a:prstGeom>
          <a:solidFill>
            <a:schemeClr val="accent4">
              <a:alpha val="15000"/>
            </a:schemeClr>
          </a:solidFill>
          <a:ln/>
        </p:spPr>
      </p:sp>
      <p:sp>
        <p:nvSpPr>
          <p:cNvPr id="23" name="Icon circle FaCheckCircle"/>
          <p:cNvSpPr/>
          <p:nvPr/>
        </p:nvSpPr>
        <p:spPr>
          <a:xfrm>
            <a:off x="640080" y="3474720"/>
            <a:ext cx="548640" cy="548640"/>
          </a:xfrm>
          <a:prstGeom prst="ellipse">
            <a:avLst/>
          </a:prstGeom>
          <a:solidFill>
            <a:schemeClr val="accent4"/>
          </a:solidFill>
          <a:ln/>
        </p:spPr>
      </p:sp>
      <p:pic>
        <p:nvPicPr>
          <p:cNvPr id="24" name="Image 3" descr="CheckCircle icon"/>
          <p:cNvPicPr>
            <a:picLocks noChangeAspect="1"/>
          </p:cNvPicPr>
          <p:nvPr/>
        </p:nvPicPr>
        <p:blipFill>
          <a:blip r:embed="rId6"/>
          <a:stretch>
            <a:fillRect/>
          </a:stretch>
        </p:blipFill>
        <p:spPr>
          <a:xfrm>
            <a:off x="777240" y="3611880"/>
            <a:ext cx="274320" cy="274320"/>
          </a:xfrm>
          <a:prstGeom prst="rect">
            <a:avLst/>
          </a:prstGeom>
        </p:spPr>
      </p:pic>
      <p:sp>
        <p:nvSpPr>
          <p:cNvPr id="25" name="Text 18"/>
          <p:cNvSpPr txBox="1"/>
          <p:nvPr/>
        </p:nvSpPr>
        <p:spPr>
          <a:xfrm>
            <a:off x="1371600" y="3337560"/>
            <a:ext cx="2971800" cy="1005840"/>
          </a:xfrm>
          <a:prstGeom prst="rect">
            <a:avLst/>
          </a:prstGeom>
          <a:noFill/>
          <a:ln/>
        </p:spPr>
        <p:txBody>
          <a:bodyPr wrap="square" lIns="0" tIns="0" rIns="0" bIns="0" rtlCol="0" anchor="t"/>
          <a:lstStyle/>
          <a:p>
            <a:pPr marL="0" indent="0" algn="l">
              <a:buNone/>
            </a:pPr>
            <a:r>
              <a:rPr lang="en-US" sz="1800" b="1" dirty="0">
                <a:solidFill>
                  <a:schemeClr val="tx1"/>
                </a:solidFill>
              </a:rPr>
              <a:t>Approve</a:t>
            </a:r>
            <a:endParaRPr lang="en-US" sz="1400" dirty="0"/>
          </a:p>
          <a:p>
            <a:pPr marL="0" indent="0" algn="l">
              <a:buNone/>
            </a:pPr>
            <a:r>
              <a:rPr lang="en-US" sz="1400" dirty="0">
                <a:solidFill>
                  <a:schemeClr val="tx1"/>
                </a:solidFill>
              </a:rPr>
              <a:t>Item marked RESOLVED, other pending claims auto-rejected, claimant notified</a:t>
            </a:r>
            <a:endParaRPr lang="en-US" sz="1400" dirty="0"/>
          </a:p>
        </p:txBody>
      </p:sp>
      <p:sp>
        <p:nvSpPr>
          <p:cNvPr id="26" name="Shape 19"/>
          <p:cNvSpPr/>
          <p:nvPr/>
        </p:nvSpPr>
        <p:spPr>
          <a:xfrm>
            <a:off x="4663440" y="3246120"/>
            <a:ext cx="4023360" cy="1188720"/>
          </a:xfrm>
          <a:prstGeom prst="roundRect">
            <a:avLst>
              <a:gd name="adj" fmla="val 6154"/>
            </a:avLst>
          </a:prstGeom>
          <a:solidFill>
            <a:schemeClr val="accent3">
              <a:alpha val="15000"/>
            </a:schemeClr>
          </a:solidFill>
          <a:ln/>
        </p:spPr>
      </p:sp>
      <p:sp>
        <p:nvSpPr>
          <p:cNvPr id="27" name="Icon circle FaTimesCircle"/>
          <p:cNvSpPr/>
          <p:nvPr/>
        </p:nvSpPr>
        <p:spPr>
          <a:xfrm>
            <a:off x="4846320" y="3474720"/>
            <a:ext cx="548640" cy="548640"/>
          </a:xfrm>
          <a:prstGeom prst="ellipse">
            <a:avLst/>
          </a:prstGeom>
          <a:solidFill>
            <a:schemeClr val="accent3"/>
          </a:solidFill>
          <a:ln/>
        </p:spPr>
      </p:sp>
      <p:pic>
        <p:nvPicPr>
          <p:cNvPr id="28" name="Image 4" descr="TimesCircle icon"/>
          <p:cNvPicPr>
            <a:picLocks noChangeAspect="1"/>
          </p:cNvPicPr>
          <p:nvPr/>
        </p:nvPicPr>
        <p:blipFill>
          <a:blip r:embed="rId7"/>
          <a:stretch>
            <a:fillRect/>
          </a:stretch>
        </p:blipFill>
        <p:spPr>
          <a:xfrm>
            <a:off x="4983480" y="3611880"/>
            <a:ext cx="274320" cy="274320"/>
          </a:xfrm>
          <a:prstGeom prst="rect">
            <a:avLst/>
          </a:prstGeom>
        </p:spPr>
      </p:pic>
      <p:sp>
        <p:nvSpPr>
          <p:cNvPr id="29" name="Text 21"/>
          <p:cNvSpPr txBox="1"/>
          <p:nvPr/>
        </p:nvSpPr>
        <p:spPr>
          <a:xfrm>
            <a:off x="5577840" y="3337560"/>
            <a:ext cx="2971800" cy="1005840"/>
          </a:xfrm>
          <a:prstGeom prst="rect">
            <a:avLst/>
          </a:prstGeom>
          <a:noFill/>
          <a:ln/>
        </p:spPr>
        <p:txBody>
          <a:bodyPr wrap="square" lIns="0" tIns="0" rIns="0" bIns="0" rtlCol="0" anchor="t"/>
          <a:lstStyle/>
          <a:p>
            <a:pPr marL="0" indent="0" algn="l">
              <a:buNone/>
            </a:pPr>
            <a:r>
              <a:rPr lang="en-US" sz="1800" b="1" dirty="0">
                <a:solidFill>
                  <a:schemeClr val="tx1"/>
                </a:solidFill>
              </a:rPr>
              <a:t>Reject</a:t>
            </a:r>
            <a:endParaRPr lang="en-US" sz="1400" dirty="0"/>
          </a:p>
          <a:p>
            <a:pPr marL="0" indent="0" algn="l">
              <a:buNone/>
            </a:pPr>
            <a:r>
              <a:rPr lang="en-US" sz="1400" dirty="0">
                <a:solidFill>
                  <a:schemeClr val="tx1"/>
                </a:solidFill>
              </a:rPr>
              <a:t>The claim is declined; other claims stay under review</a:t>
            </a:r>
            <a:endParaRPr lang="en-US" sz="1400" dirty="0"/>
          </a:p>
        </p:txBody>
      </p:sp>
      <p:sp>
        <p:nvSpPr>
          <p:cNvPr id="3"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320040"/>
            <a:ext cx="8229600" cy="731520"/>
          </a:xfrm>
          <a:prstGeom prst="rect">
            <a:avLst/>
          </a:prstGeom>
          <a:noFill/>
          <a:ln/>
        </p:spPr>
        <p:txBody>
          <a:bodyPr wrap="square" lIns="0" tIns="0" rIns="0" bIns="0" rtlCol="0" anchor="ctr"/>
          <a:lstStyle/>
          <a:p>
            <a:pPr marL="0" indent="0" algn="l">
              <a:buNone/>
            </a:pPr>
            <a:r>
              <a:rPr lang="en-US" sz="3400" b="1" dirty="0">
                <a:solidFill>
                  <a:schemeClr val="tx2"/>
                </a:solidFill>
              </a:rPr>
              <a:t>Challenges and solutions</a:t>
            </a:r>
            <a:endParaRPr lang="en-US" sz="3400" dirty="0"/>
          </a:p>
        </p:txBody>
      </p:sp>
      <p:sp>
        <p:nvSpPr>
          <p:cNvPr id="4" name="Text 1"/>
          <p:cNvSpPr txBox="1"/>
          <p:nvPr/>
        </p:nvSpPr>
        <p:spPr>
          <a:xfrm>
            <a:off x="457200" y="1234440"/>
            <a:ext cx="3566160" cy="274320"/>
          </a:xfrm>
          <a:prstGeom prst="rect">
            <a:avLst/>
          </a:prstGeom>
          <a:noFill/>
          <a:ln/>
        </p:spPr>
        <p:txBody>
          <a:bodyPr wrap="square" lIns="0" tIns="0" rIns="0" bIns="0" rtlCol="0" anchor="t"/>
          <a:lstStyle/>
          <a:p>
            <a:pPr marL="0" indent="0" algn="l">
              <a:buNone/>
            </a:pPr>
            <a:r>
              <a:rPr lang="en-US" sz="1200" b="1" dirty="0">
                <a:solidFill>
                  <a:schemeClr val="accent3"/>
                </a:solidFill>
              </a:rPr>
              <a:t>Challenge</a:t>
            </a:r>
            <a:endParaRPr lang="en-US" sz="1200" dirty="0"/>
          </a:p>
        </p:txBody>
      </p:sp>
      <p:sp>
        <p:nvSpPr>
          <p:cNvPr id="5" name="Text 2"/>
          <p:cNvSpPr txBox="1"/>
          <p:nvPr/>
        </p:nvSpPr>
        <p:spPr>
          <a:xfrm>
            <a:off x="4572000" y="1234440"/>
            <a:ext cx="4114800" cy="274320"/>
          </a:xfrm>
          <a:prstGeom prst="rect">
            <a:avLst/>
          </a:prstGeom>
          <a:noFill/>
          <a:ln/>
        </p:spPr>
        <p:txBody>
          <a:bodyPr wrap="square" lIns="0" tIns="0" rIns="0" bIns="0" rtlCol="0" anchor="t"/>
          <a:lstStyle/>
          <a:p>
            <a:pPr marL="0" indent="0" algn="l">
              <a:buNone/>
            </a:pPr>
            <a:r>
              <a:rPr lang="en-US" sz="1200" b="1" dirty="0">
                <a:solidFill>
                  <a:schemeClr val="accent4"/>
                </a:solidFill>
              </a:rPr>
              <a:t>Solution</a:t>
            </a:r>
            <a:endParaRPr lang="en-US" sz="1200" dirty="0"/>
          </a:p>
        </p:txBody>
      </p:sp>
      <p:sp>
        <p:nvSpPr>
          <p:cNvPr id="6" name="Shape 3"/>
          <p:cNvSpPr/>
          <p:nvPr/>
        </p:nvSpPr>
        <p:spPr>
          <a:xfrm>
            <a:off x="457200" y="1554480"/>
            <a:ext cx="3566160" cy="685800"/>
          </a:xfrm>
          <a:prstGeom prst="roundRect">
            <a:avLst>
              <a:gd name="adj" fmla="val 10667"/>
            </a:avLst>
          </a:prstGeom>
          <a:solidFill>
            <a:schemeClr val="accent3">
              <a:alpha val="12000"/>
            </a:schemeClr>
          </a:solidFill>
          <a:ln/>
        </p:spPr>
      </p:sp>
      <p:sp>
        <p:nvSpPr>
          <p:cNvPr id="7" name="Text 4"/>
          <p:cNvSpPr txBox="1"/>
          <p:nvPr/>
        </p:nvSpPr>
        <p:spPr>
          <a:xfrm>
            <a:off x="594360" y="1554480"/>
            <a:ext cx="3291840" cy="685800"/>
          </a:xfrm>
          <a:prstGeom prst="rect">
            <a:avLst/>
          </a:prstGeom>
          <a:noFill/>
          <a:ln/>
        </p:spPr>
        <p:txBody>
          <a:bodyPr wrap="square" lIns="0" tIns="0" rIns="0" bIns="0" rtlCol="0" anchor="ctr"/>
          <a:lstStyle/>
          <a:p>
            <a:pPr marL="0" indent="0" algn="l">
              <a:buNone/>
            </a:pPr>
            <a:r>
              <a:rPr lang="en-US" sz="1400" dirty="0">
                <a:solidFill>
                  <a:schemeClr val="tx1"/>
                </a:solidFill>
              </a:rPr>
              <a:t>Prisma can't push vector columns</a:t>
            </a:r>
            <a:endParaRPr lang="en-US" sz="1400" dirty="0"/>
          </a:p>
        </p:txBody>
      </p:sp>
      <p:sp>
        <p:nvSpPr>
          <p:cNvPr id="8" name="Arrow"/>
          <p:cNvSpPr/>
          <p:nvPr/>
        </p:nvSpPr>
        <p:spPr>
          <a:xfrm>
            <a:off x="4069080" y="1897380"/>
            <a:ext cx="457200" cy="0"/>
          </a:xfrm>
          <a:prstGeom prst="line">
            <a:avLst/>
          </a:prstGeom>
          <a:noFill/>
          <a:ln w="25400">
            <a:solidFill>
              <a:schemeClr val="tx1"/>
            </a:solidFill>
            <a:prstDash val="solid"/>
            <a:tailEnd type="triangle"/>
          </a:ln>
        </p:spPr>
      </p:sp>
      <p:sp>
        <p:nvSpPr>
          <p:cNvPr id="9" name="Shape 6"/>
          <p:cNvSpPr/>
          <p:nvPr/>
        </p:nvSpPr>
        <p:spPr>
          <a:xfrm>
            <a:off x="4572000" y="1554480"/>
            <a:ext cx="4114800" cy="685800"/>
          </a:xfrm>
          <a:prstGeom prst="roundRect">
            <a:avLst>
              <a:gd name="adj" fmla="val 10667"/>
            </a:avLst>
          </a:prstGeom>
          <a:solidFill>
            <a:schemeClr val="accent4">
              <a:alpha val="12000"/>
            </a:schemeClr>
          </a:solidFill>
          <a:ln/>
        </p:spPr>
      </p:sp>
      <p:sp>
        <p:nvSpPr>
          <p:cNvPr id="10" name="Text 7"/>
          <p:cNvSpPr txBox="1"/>
          <p:nvPr/>
        </p:nvSpPr>
        <p:spPr>
          <a:xfrm>
            <a:off x="4709160" y="1554480"/>
            <a:ext cx="3840480" cy="685800"/>
          </a:xfrm>
          <a:prstGeom prst="rect">
            <a:avLst/>
          </a:prstGeom>
          <a:noFill/>
          <a:ln/>
        </p:spPr>
        <p:txBody>
          <a:bodyPr wrap="square" lIns="0" tIns="0" rIns="0" bIns="0" rtlCol="0" anchor="ctr"/>
          <a:lstStyle/>
          <a:p>
            <a:pPr marL="0" indent="0" algn="l">
              <a:buNone/>
            </a:pPr>
            <a:r>
              <a:rPr lang="en-US" sz="1400" dirty="0">
                <a:solidFill>
                  <a:schemeClr val="tx1"/>
                </a:solidFill>
              </a:rPr>
              <a:t>Added the column with manual SQL and kept the schema in sync</a:t>
            </a:r>
            <a:endParaRPr lang="en-US" sz="1400" dirty="0"/>
          </a:p>
        </p:txBody>
      </p:sp>
      <p:sp>
        <p:nvSpPr>
          <p:cNvPr id="11" name="Shape 8"/>
          <p:cNvSpPr/>
          <p:nvPr/>
        </p:nvSpPr>
        <p:spPr>
          <a:xfrm>
            <a:off x="457200" y="2331720"/>
            <a:ext cx="3566160" cy="685800"/>
          </a:xfrm>
          <a:prstGeom prst="roundRect">
            <a:avLst>
              <a:gd name="adj" fmla="val 10667"/>
            </a:avLst>
          </a:prstGeom>
          <a:solidFill>
            <a:schemeClr val="accent3">
              <a:alpha val="12000"/>
            </a:schemeClr>
          </a:solidFill>
          <a:ln/>
        </p:spPr>
      </p:sp>
      <p:sp>
        <p:nvSpPr>
          <p:cNvPr id="12" name="Text 9"/>
          <p:cNvSpPr txBox="1"/>
          <p:nvPr/>
        </p:nvSpPr>
        <p:spPr>
          <a:xfrm>
            <a:off x="594360" y="2331720"/>
            <a:ext cx="3291840" cy="685800"/>
          </a:xfrm>
          <a:prstGeom prst="rect">
            <a:avLst/>
          </a:prstGeom>
          <a:noFill/>
          <a:ln/>
        </p:spPr>
        <p:txBody>
          <a:bodyPr wrap="square" lIns="0" tIns="0" rIns="0" bIns="0" rtlCol="0" anchor="ctr"/>
          <a:lstStyle/>
          <a:p>
            <a:pPr marL="0" indent="0" algn="l">
              <a:buNone/>
            </a:pPr>
            <a:r>
              <a:rPr lang="en-US" sz="1400" dirty="0">
                <a:solidFill>
                  <a:schemeClr val="tx1"/>
                </a:solidFill>
              </a:rPr>
              <a:t>Hugging Face API ran out of credits (402)</a:t>
            </a:r>
            <a:endParaRPr lang="en-US" sz="1400" dirty="0"/>
          </a:p>
        </p:txBody>
      </p:sp>
      <p:sp>
        <p:nvSpPr>
          <p:cNvPr id="13" name="Arrow"/>
          <p:cNvSpPr/>
          <p:nvPr/>
        </p:nvSpPr>
        <p:spPr>
          <a:xfrm>
            <a:off x="4069080" y="2674620"/>
            <a:ext cx="457200" cy="0"/>
          </a:xfrm>
          <a:prstGeom prst="line">
            <a:avLst/>
          </a:prstGeom>
          <a:noFill/>
          <a:ln w="25400">
            <a:solidFill>
              <a:schemeClr val="tx1"/>
            </a:solidFill>
            <a:prstDash val="solid"/>
            <a:tailEnd type="triangle"/>
          </a:ln>
        </p:spPr>
      </p:sp>
      <p:sp>
        <p:nvSpPr>
          <p:cNvPr id="14" name="Shape 11"/>
          <p:cNvSpPr/>
          <p:nvPr/>
        </p:nvSpPr>
        <p:spPr>
          <a:xfrm>
            <a:off x="4572000" y="2331720"/>
            <a:ext cx="4114800" cy="685800"/>
          </a:xfrm>
          <a:prstGeom prst="roundRect">
            <a:avLst>
              <a:gd name="adj" fmla="val 10667"/>
            </a:avLst>
          </a:prstGeom>
          <a:solidFill>
            <a:schemeClr val="accent4">
              <a:alpha val="12000"/>
            </a:schemeClr>
          </a:solidFill>
          <a:ln/>
        </p:spPr>
      </p:sp>
      <p:sp>
        <p:nvSpPr>
          <p:cNvPr id="15" name="Text 12"/>
          <p:cNvSpPr txBox="1"/>
          <p:nvPr/>
        </p:nvSpPr>
        <p:spPr>
          <a:xfrm>
            <a:off x="4709160" y="2331720"/>
            <a:ext cx="3840480" cy="685800"/>
          </a:xfrm>
          <a:prstGeom prst="rect">
            <a:avLst/>
          </a:prstGeom>
          <a:noFill/>
          <a:ln/>
        </p:spPr>
        <p:txBody>
          <a:bodyPr wrap="square" lIns="0" tIns="0" rIns="0" bIns="0" rtlCol="0" anchor="ctr"/>
          <a:lstStyle/>
          <a:p>
            <a:pPr marL="0" indent="0" algn="l">
              <a:buNone/>
            </a:pPr>
            <a:r>
              <a:rPr lang="en-US" sz="1400" dirty="0">
                <a:solidFill>
                  <a:schemeClr val="tx1"/>
                </a:solidFill>
              </a:rPr>
              <a:t>Moved the same model into a Supabase Edge Function</a:t>
            </a:r>
            <a:endParaRPr lang="en-US" sz="1400" dirty="0"/>
          </a:p>
        </p:txBody>
      </p:sp>
      <p:sp>
        <p:nvSpPr>
          <p:cNvPr id="16" name="Shape 13"/>
          <p:cNvSpPr/>
          <p:nvPr/>
        </p:nvSpPr>
        <p:spPr>
          <a:xfrm>
            <a:off x="457200" y="3108960"/>
            <a:ext cx="3566160" cy="685800"/>
          </a:xfrm>
          <a:prstGeom prst="roundRect">
            <a:avLst>
              <a:gd name="adj" fmla="val 10667"/>
            </a:avLst>
          </a:prstGeom>
          <a:solidFill>
            <a:schemeClr val="accent3">
              <a:alpha val="12000"/>
            </a:schemeClr>
          </a:solidFill>
          <a:ln/>
        </p:spPr>
      </p:sp>
      <p:sp>
        <p:nvSpPr>
          <p:cNvPr id="17" name="Text 14"/>
          <p:cNvSpPr txBox="1"/>
          <p:nvPr/>
        </p:nvSpPr>
        <p:spPr>
          <a:xfrm>
            <a:off x="594360" y="3108960"/>
            <a:ext cx="3291840" cy="685800"/>
          </a:xfrm>
          <a:prstGeom prst="rect">
            <a:avLst/>
          </a:prstGeom>
          <a:noFill/>
          <a:ln/>
        </p:spPr>
        <p:txBody>
          <a:bodyPr wrap="square" lIns="0" tIns="0" rIns="0" bIns="0" rtlCol="0" anchor="ctr"/>
          <a:lstStyle/>
          <a:p>
            <a:pPr marL="0" indent="0" algn="l">
              <a:buNone/>
            </a:pPr>
            <a:r>
              <a:rPr lang="en-US" sz="1400" dirty="0">
                <a:solidFill>
                  <a:schemeClr val="tx1"/>
                </a:solidFill>
              </a:rPr>
              <a:t>pgvector lives in the extensions schema</a:t>
            </a:r>
            <a:endParaRPr lang="en-US" sz="1400" dirty="0"/>
          </a:p>
        </p:txBody>
      </p:sp>
      <p:sp>
        <p:nvSpPr>
          <p:cNvPr id="18" name="Arrow"/>
          <p:cNvSpPr/>
          <p:nvPr/>
        </p:nvSpPr>
        <p:spPr>
          <a:xfrm>
            <a:off x="4069080" y="3451860"/>
            <a:ext cx="457200" cy="0"/>
          </a:xfrm>
          <a:prstGeom prst="line">
            <a:avLst/>
          </a:prstGeom>
          <a:noFill/>
          <a:ln w="25400">
            <a:solidFill>
              <a:schemeClr val="tx1"/>
            </a:solidFill>
            <a:prstDash val="solid"/>
            <a:tailEnd type="triangle"/>
          </a:ln>
        </p:spPr>
      </p:sp>
      <p:sp>
        <p:nvSpPr>
          <p:cNvPr id="19" name="Shape 16"/>
          <p:cNvSpPr/>
          <p:nvPr/>
        </p:nvSpPr>
        <p:spPr>
          <a:xfrm>
            <a:off x="4572000" y="3108960"/>
            <a:ext cx="4114800" cy="685800"/>
          </a:xfrm>
          <a:prstGeom prst="roundRect">
            <a:avLst>
              <a:gd name="adj" fmla="val 10667"/>
            </a:avLst>
          </a:prstGeom>
          <a:solidFill>
            <a:schemeClr val="accent4">
              <a:alpha val="12000"/>
            </a:schemeClr>
          </a:solidFill>
          <a:ln/>
        </p:spPr>
      </p:sp>
      <p:sp>
        <p:nvSpPr>
          <p:cNvPr id="20" name="Text 17"/>
          <p:cNvSpPr txBox="1"/>
          <p:nvPr/>
        </p:nvSpPr>
        <p:spPr>
          <a:xfrm>
            <a:off x="4709160" y="3108960"/>
            <a:ext cx="3840480" cy="685800"/>
          </a:xfrm>
          <a:prstGeom prst="rect">
            <a:avLst/>
          </a:prstGeom>
          <a:noFill/>
          <a:ln/>
        </p:spPr>
        <p:txBody>
          <a:bodyPr wrap="square" lIns="0" tIns="0" rIns="0" bIns="0" rtlCol="0" anchor="ctr"/>
          <a:lstStyle/>
          <a:p>
            <a:pPr marL="0" indent="0" algn="l">
              <a:buNone/>
            </a:pPr>
            <a:r>
              <a:rPr lang="en-US" sz="1400" dirty="0">
                <a:solidFill>
                  <a:schemeClr val="tx1"/>
                </a:solidFill>
              </a:rPr>
              <a:t>GRANT USAGE on the schema; used extensions.vector in raw SQL</a:t>
            </a:r>
            <a:endParaRPr lang="en-US" sz="1400" dirty="0"/>
          </a:p>
        </p:txBody>
      </p:sp>
      <p:sp>
        <p:nvSpPr>
          <p:cNvPr id="21" name="Shape 18"/>
          <p:cNvSpPr/>
          <p:nvPr/>
        </p:nvSpPr>
        <p:spPr>
          <a:xfrm>
            <a:off x="457200" y="3886200"/>
            <a:ext cx="3566160" cy="685800"/>
          </a:xfrm>
          <a:prstGeom prst="roundRect">
            <a:avLst>
              <a:gd name="adj" fmla="val 10667"/>
            </a:avLst>
          </a:prstGeom>
          <a:solidFill>
            <a:schemeClr val="accent3">
              <a:alpha val="12000"/>
            </a:schemeClr>
          </a:solidFill>
          <a:ln/>
        </p:spPr>
      </p:sp>
      <p:sp>
        <p:nvSpPr>
          <p:cNvPr id="22" name="Text 19"/>
          <p:cNvSpPr txBox="1"/>
          <p:nvPr/>
        </p:nvSpPr>
        <p:spPr>
          <a:xfrm>
            <a:off x="594360" y="3886200"/>
            <a:ext cx="3291840" cy="685800"/>
          </a:xfrm>
          <a:prstGeom prst="rect">
            <a:avLst/>
          </a:prstGeom>
          <a:noFill/>
          <a:ln/>
        </p:spPr>
        <p:txBody>
          <a:bodyPr wrap="square" lIns="0" tIns="0" rIns="0" bIns="0" rtlCol="0" anchor="ctr"/>
          <a:lstStyle/>
          <a:p>
            <a:pPr marL="0" indent="0" algn="l">
              <a:buNone/>
            </a:pPr>
            <a:r>
              <a:rPr lang="en-US" sz="1400" dirty="0">
                <a:solidFill>
                  <a:schemeClr val="tx1"/>
                </a:solidFill>
              </a:rPr>
              <a:t>HF endpoint retired mid-project</a:t>
            </a:r>
            <a:endParaRPr lang="en-US" sz="1400" dirty="0"/>
          </a:p>
        </p:txBody>
      </p:sp>
      <p:sp>
        <p:nvSpPr>
          <p:cNvPr id="23" name="Arrow"/>
          <p:cNvSpPr/>
          <p:nvPr/>
        </p:nvSpPr>
        <p:spPr>
          <a:xfrm>
            <a:off x="4069080" y="4229100"/>
            <a:ext cx="457200" cy="0"/>
          </a:xfrm>
          <a:prstGeom prst="line">
            <a:avLst/>
          </a:prstGeom>
          <a:noFill/>
          <a:ln w="25400">
            <a:solidFill>
              <a:schemeClr val="tx1"/>
            </a:solidFill>
            <a:prstDash val="solid"/>
            <a:tailEnd type="triangle"/>
          </a:ln>
        </p:spPr>
      </p:sp>
      <p:sp>
        <p:nvSpPr>
          <p:cNvPr id="24" name="Shape 21"/>
          <p:cNvSpPr/>
          <p:nvPr/>
        </p:nvSpPr>
        <p:spPr>
          <a:xfrm>
            <a:off x="4572000" y="3886200"/>
            <a:ext cx="4114800" cy="685800"/>
          </a:xfrm>
          <a:prstGeom prst="roundRect">
            <a:avLst>
              <a:gd name="adj" fmla="val 10667"/>
            </a:avLst>
          </a:prstGeom>
          <a:solidFill>
            <a:schemeClr val="accent4">
              <a:alpha val="12000"/>
            </a:schemeClr>
          </a:solidFill>
          <a:ln/>
        </p:spPr>
      </p:sp>
      <p:sp>
        <p:nvSpPr>
          <p:cNvPr id="25" name="Text 22"/>
          <p:cNvSpPr txBox="1"/>
          <p:nvPr/>
        </p:nvSpPr>
        <p:spPr>
          <a:xfrm>
            <a:off x="4709160" y="3886200"/>
            <a:ext cx="3840480" cy="685800"/>
          </a:xfrm>
          <a:prstGeom prst="rect">
            <a:avLst/>
          </a:prstGeom>
          <a:noFill/>
          <a:ln/>
        </p:spPr>
        <p:txBody>
          <a:bodyPr wrap="square" lIns="0" tIns="0" rIns="0" bIns="0" rtlCol="0" anchor="ctr"/>
          <a:lstStyle/>
          <a:p>
            <a:pPr marL="0" indent="0" algn="l">
              <a:buNone/>
            </a:pPr>
            <a:r>
              <a:rPr lang="en-US" sz="1400" dirty="0">
                <a:solidFill>
                  <a:schemeClr val="tx1"/>
                </a:solidFill>
              </a:rPr>
              <a:t>Switched to the router endpoint, then to Edge Functions</a:t>
            </a:r>
            <a:endParaRPr lang="en-US" sz="1400" dirty="0"/>
          </a:p>
        </p:txBody>
      </p:sp>
      <p:sp>
        <p:nvSpPr>
          <p:cNvPr id="3"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57200" y="320040"/>
            <a:ext cx="8229600" cy="731520"/>
          </a:xfrm>
          <a:prstGeom prst="rect">
            <a:avLst/>
          </a:prstGeom>
          <a:noFill/>
          <a:ln/>
        </p:spPr>
        <p:txBody>
          <a:bodyPr wrap="square" lIns="0" tIns="0" rIns="0" bIns="0" rtlCol="0" anchor="ctr"/>
          <a:lstStyle/>
          <a:p>
            <a:pPr marL="0" indent="0" algn="l">
              <a:buNone/>
            </a:pPr>
            <a:r>
              <a:rPr lang="en-US" sz="3400" b="1" dirty="0">
                <a:solidFill>
                  <a:schemeClr val="bg1"/>
                </a:solidFill>
              </a:rPr>
              <a:t>Lessons learned</a:t>
            </a:r>
            <a:endParaRPr lang="en-US" sz="3400" dirty="0"/>
          </a:p>
        </p:txBody>
      </p:sp>
      <p:sp>
        <p:nvSpPr>
          <p:cNvPr id="4" name="Shape 1"/>
          <p:cNvSpPr/>
          <p:nvPr/>
        </p:nvSpPr>
        <p:spPr>
          <a:xfrm>
            <a:off x="457200" y="1280160"/>
            <a:ext cx="4023360" cy="1417320"/>
          </a:xfrm>
          <a:prstGeom prst="roundRect">
            <a:avLst>
              <a:gd name="adj" fmla="val 5161"/>
            </a:avLst>
          </a:prstGeom>
          <a:solidFill>
            <a:schemeClr val="bg1">
              <a:alpha val="10000"/>
            </a:schemeClr>
          </a:solidFill>
          <a:ln/>
        </p:spPr>
      </p:sp>
      <p:sp>
        <p:nvSpPr>
          <p:cNvPr id="5" name="Icon circle FaCog"/>
          <p:cNvSpPr/>
          <p:nvPr/>
        </p:nvSpPr>
        <p:spPr>
          <a:xfrm>
            <a:off x="685800" y="1664208"/>
            <a:ext cx="640080" cy="640080"/>
          </a:xfrm>
          <a:prstGeom prst="ellipse">
            <a:avLst/>
          </a:prstGeom>
          <a:solidFill>
            <a:schemeClr val="accent2"/>
          </a:solidFill>
          <a:ln/>
        </p:spPr>
      </p:sp>
      <p:pic>
        <p:nvPicPr>
          <p:cNvPr id="6" name="Image 0" descr="Cog icon"/>
          <p:cNvPicPr>
            <a:picLocks noChangeAspect="1"/>
          </p:cNvPicPr>
          <p:nvPr/>
        </p:nvPicPr>
        <p:blipFill>
          <a:blip r:embed="rId3"/>
          <a:stretch>
            <a:fillRect/>
          </a:stretch>
        </p:blipFill>
        <p:spPr>
          <a:xfrm>
            <a:off x="845820" y="1824228"/>
            <a:ext cx="320040" cy="320040"/>
          </a:xfrm>
          <a:prstGeom prst="rect">
            <a:avLst/>
          </a:prstGeom>
        </p:spPr>
      </p:pic>
      <p:sp>
        <p:nvSpPr>
          <p:cNvPr id="7" name="Text 3"/>
          <p:cNvSpPr txBox="1"/>
          <p:nvPr/>
        </p:nvSpPr>
        <p:spPr>
          <a:xfrm>
            <a:off x="1508760" y="1463040"/>
            <a:ext cx="2788920" cy="320040"/>
          </a:xfrm>
          <a:prstGeom prst="rect">
            <a:avLst/>
          </a:prstGeom>
          <a:noFill/>
          <a:ln/>
        </p:spPr>
        <p:txBody>
          <a:bodyPr wrap="square" lIns="0" tIns="0" rIns="0" bIns="0" rtlCol="0" anchor="t"/>
          <a:lstStyle/>
          <a:p>
            <a:pPr marL="0" indent="0" algn="l">
              <a:buNone/>
            </a:pPr>
            <a:r>
              <a:rPr lang="en-US" sz="1800" b="1" dirty="0">
                <a:solidFill>
                  <a:schemeClr val="bg1"/>
                </a:solidFill>
              </a:rPr>
              <a:t>Know your ORM's limits</a:t>
            </a:r>
            <a:endParaRPr lang="en-US" sz="1800" dirty="0"/>
          </a:p>
        </p:txBody>
      </p:sp>
      <p:sp>
        <p:nvSpPr>
          <p:cNvPr id="8" name="Text 4"/>
          <p:cNvSpPr txBox="1"/>
          <p:nvPr/>
        </p:nvSpPr>
        <p:spPr>
          <a:xfrm>
            <a:off x="1508760" y="1828800"/>
            <a:ext cx="2788920" cy="777240"/>
          </a:xfrm>
          <a:prstGeom prst="rect">
            <a:avLst/>
          </a:prstGeom>
          <a:noFill/>
          <a:ln/>
        </p:spPr>
        <p:txBody>
          <a:bodyPr wrap="square" lIns="0" tIns="0" rIns="0" bIns="0" rtlCol="0" anchor="t"/>
          <a:lstStyle/>
          <a:p>
            <a:pPr marL="0" indent="0" algn="l">
              <a:buNone/>
            </a:pPr>
            <a:r>
              <a:rPr lang="en-US" sz="1400" dirty="0">
                <a:solidFill>
                  <a:schemeClr val="bg2"/>
                </a:solidFill>
              </a:rPr>
              <a:t>Drop to raw SQL when Prisma can't express a type</a:t>
            </a:r>
            <a:endParaRPr lang="en-US" sz="1400" dirty="0"/>
          </a:p>
        </p:txBody>
      </p:sp>
      <p:sp>
        <p:nvSpPr>
          <p:cNvPr id="9" name="Shape 5"/>
          <p:cNvSpPr/>
          <p:nvPr/>
        </p:nvSpPr>
        <p:spPr>
          <a:xfrm>
            <a:off x="4663440" y="1280160"/>
            <a:ext cx="4023360" cy="1417320"/>
          </a:xfrm>
          <a:prstGeom prst="roundRect">
            <a:avLst>
              <a:gd name="adj" fmla="val 5161"/>
            </a:avLst>
          </a:prstGeom>
          <a:solidFill>
            <a:schemeClr val="bg1">
              <a:alpha val="10000"/>
            </a:schemeClr>
          </a:solidFill>
          <a:ln/>
        </p:spPr>
      </p:sp>
      <p:sp>
        <p:nvSpPr>
          <p:cNvPr id="10" name="Icon circle FaRobot"/>
          <p:cNvSpPr/>
          <p:nvPr/>
        </p:nvSpPr>
        <p:spPr>
          <a:xfrm>
            <a:off x="4892040" y="1664208"/>
            <a:ext cx="640080" cy="640080"/>
          </a:xfrm>
          <a:prstGeom prst="ellipse">
            <a:avLst/>
          </a:prstGeom>
          <a:solidFill>
            <a:schemeClr val="accent2"/>
          </a:solidFill>
          <a:ln/>
        </p:spPr>
      </p:sp>
      <p:pic>
        <p:nvPicPr>
          <p:cNvPr id="11" name="Image 1" descr="Robot icon"/>
          <p:cNvPicPr>
            <a:picLocks noChangeAspect="1"/>
          </p:cNvPicPr>
          <p:nvPr/>
        </p:nvPicPr>
        <p:blipFill>
          <a:blip r:embed="rId4"/>
          <a:stretch>
            <a:fillRect/>
          </a:stretch>
        </p:blipFill>
        <p:spPr>
          <a:xfrm>
            <a:off x="5052060" y="1824228"/>
            <a:ext cx="320040" cy="320040"/>
          </a:xfrm>
          <a:prstGeom prst="rect">
            <a:avLst/>
          </a:prstGeom>
        </p:spPr>
      </p:pic>
      <p:sp>
        <p:nvSpPr>
          <p:cNvPr id="12" name="Text 7"/>
          <p:cNvSpPr txBox="1"/>
          <p:nvPr/>
        </p:nvSpPr>
        <p:spPr>
          <a:xfrm>
            <a:off x="5715000" y="1463040"/>
            <a:ext cx="2788920" cy="320040"/>
          </a:xfrm>
          <a:prstGeom prst="rect">
            <a:avLst/>
          </a:prstGeom>
          <a:noFill/>
          <a:ln/>
        </p:spPr>
        <p:txBody>
          <a:bodyPr wrap="square" lIns="0" tIns="0" rIns="0" bIns="0" rtlCol="0" anchor="t"/>
          <a:lstStyle/>
          <a:p>
            <a:pPr marL="0" indent="0" algn="l">
              <a:buNone/>
            </a:pPr>
            <a:r>
              <a:rPr lang="en-US" sz="1800" b="1" dirty="0">
                <a:solidFill>
                  <a:schemeClr val="bg1"/>
                </a:solidFill>
              </a:rPr>
              <a:t>Own the inference path</a:t>
            </a:r>
            <a:endParaRPr lang="en-US" sz="1800" dirty="0"/>
          </a:p>
        </p:txBody>
      </p:sp>
      <p:sp>
        <p:nvSpPr>
          <p:cNvPr id="13" name="Text 8"/>
          <p:cNvSpPr txBox="1"/>
          <p:nvPr/>
        </p:nvSpPr>
        <p:spPr>
          <a:xfrm>
            <a:off x="5715000" y="1828800"/>
            <a:ext cx="2788920" cy="777240"/>
          </a:xfrm>
          <a:prstGeom prst="rect">
            <a:avLst/>
          </a:prstGeom>
          <a:noFill/>
          <a:ln/>
        </p:spPr>
        <p:txBody>
          <a:bodyPr wrap="square" lIns="0" tIns="0" rIns="0" bIns="0" rtlCol="0" anchor="t"/>
          <a:lstStyle/>
          <a:p>
            <a:pPr marL="0" indent="0" algn="l">
              <a:buNone/>
            </a:pPr>
            <a:r>
              <a:rPr lang="en-US" sz="1400" dirty="0">
                <a:solidFill>
                  <a:schemeClr val="bg2"/>
                </a:solidFill>
              </a:rPr>
              <a:t>Free third-party APIs change or disappear</a:t>
            </a:r>
            <a:endParaRPr lang="en-US" sz="1400" dirty="0"/>
          </a:p>
        </p:txBody>
      </p:sp>
      <p:sp>
        <p:nvSpPr>
          <p:cNvPr id="14" name="Shape 9"/>
          <p:cNvSpPr/>
          <p:nvPr/>
        </p:nvSpPr>
        <p:spPr>
          <a:xfrm>
            <a:off x="457200" y="2880360"/>
            <a:ext cx="4023360" cy="1417320"/>
          </a:xfrm>
          <a:prstGeom prst="roundRect">
            <a:avLst>
              <a:gd name="adj" fmla="val 5161"/>
            </a:avLst>
          </a:prstGeom>
          <a:solidFill>
            <a:schemeClr val="bg1">
              <a:alpha val="10000"/>
            </a:schemeClr>
          </a:solidFill>
          <a:ln/>
        </p:spPr>
      </p:sp>
      <p:sp>
        <p:nvSpPr>
          <p:cNvPr id="15" name="Icon circle FaDatabase"/>
          <p:cNvSpPr/>
          <p:nvPr/>
        </p:nvSpPr>
        <p:spPr>
          <a:xfrm>
            <a:off x="685800" y="3264408"/>
            <a:ext cx="640080" cy="640080"/>
          </a:xfrm>
          <a:prstGeom prst="ellipse">
            <a:avLst/>
          </a:prstGeom>
          <a:solidFill>
            <a:schemeClr val="accent2"/>
          </a:solidFill>
          <a:ln/>
        </p:spPr>
      </p:sp>
      <p:pic>
        <p:nvPicPr>
          <p:cNvPr id="16" name="Image 2" descr="Database icon"/>
          <p:cNvPicPr>
            <a:picLocks noChangeAspect="1"/>
          </p:cNvPicPr>
          <p:nvPr/>
        </p:nvPicPr>
        <p:blipFill>
          <a:blip r:embed="rId5"/>
          <a:stretch>
            <a:fillRect/>
          </a:stretch>
        </p:blipFill>
        <p:spPr>
          <a:xfrm>
            <a:off x="845820" y="3424428"/>
            <a:ext cx="320040" cy="320040"/>
          </a:xfrm>
          <a:prstGeom prst="rect">
            <a:avLst/>
          </a:prstGeom>
        </p:spPr>
      </p:pic>
      <p:sp>
        <p:nvSpPr>
          <p:cNvPr id="17" name="Text 11"/>
          <p:cNvSpPr txBox="1"/>
          <p:nvPr/>
        </p:nvSpPr>
        <p:spPr>
          <a:xfrm>
            <a:off x="1508760" y="3063240"/>
            <a:ext cx="2788920" cy="320040"/>
          </a:xfrm>
          <a:prstGeom prst="rect">
            <a:avLst/>
          </a:prstGeom>
          <a:noFill/>
          <a:ln/>
        </p:spPr>
        <p:txBody>
          <a:bodyPr wrap="square" lIns="0" tIns="0" rIns="0" bIns="0" rtlCol="0" anchor="t"/>
          <a:lstStyle/>
          <a:p>
            <a:pPr marL="0" indent="0" algn="l">
              <a:buNone/>
            </a:pPr>
            <a:r>
              <a:rPr lang="en-US" sz="1800" b="1" dirty="0">
                <a:solidFill>
                  <a:schemeClr val="bg1"/>
                </a:solidFill>
              </a:rPr>
              <a:t>Keep vectors with the data</a:t>
            </a:r>
            <a:endParaRPr lang="en-US" sz="1800" dirty="0"/>
          </a:p>
        </p:txBody>
      </p:sp>
      <p:sp>
        <p:nvSpPr>
          <p:cNvPr id="18" name="Text 12"/>
          <p:cNvSpPr txBox="1"/>
          <p:nvPr/>
        </p:nvSpPr>
        <p:spPr>
          <a:xfrm>
            <a:off x="1508760" y="3429000"/>
            <a:ext cx="2788920" cy="777240"/>
          </a:xfrm>
          <a:prstGeom prst="rect">
            <a:avLst/>
          </a:prstGeom>
          <a:noFill/>
          <a:ln/>
        </p:spPr>
        <p:txBody>
          <a:bodyPr wrap="square" lIns="0" tIns="0" rIns="0" bIns="0" rtlCol="0" anchor="t"/>
          <a:lstStyle/>
          <a:p>
            <a:pPr marL="0" indent="0" algn="l">
              <a:buNone/>
            </a:pPr>
            <a:r>
              <a:rPr lang="en-US" sz="1400" dirty="0">
                <a:solidFill>
                  <a:schemeClr val="bg2"/>
                </a:solidFill>
              </a:rPr>
              <a:t>One Postgres database simplified the stack</a:t>
            </a:r>
            <a:endParaRPr lang="en-US" sz="1400" dirty="0"/>
          </a:p>
        </p:txBody>
      </p:sp>
      <p:sp>
        <p:nvSpPr>
          <p:cNvPr id="19" name="Shape 13"/>
          <p:cNvSpPr/>
          <p:nvPr/>
        </p:nvSpPr>
        <p:spPr>
          <a:xfrm>
            <a:off x="4663440" y="2880360"/>
            <a:ext cx="4023360" cy="1417320"/>
          </a:xfrm>
          <a:prstGeom prst="roundRect">
            <a:avLst>
              <a:gd name="adj" fmla="val 5161"/>
            </a:avLst>
          </a:prstGeom>
          <a:solidFill>
            <a:schemeClr val="bg1">
              <a:alpha val="10000"/>
            </a:schemeClr>
          </a:solidFill>
          <a:ln/>
        </p:spPr>
      </p:sp>
      <p:sp>
        <p:nvSpPr>
          <p:cNvPr id="20" name="Icon circle FaBell"/>
          <p:cNvSpPr/>
          <p:nvPr/>
        </p:nvSpPr>
        <p:spPr>
          <a:xfrm>
            <a:off x="4892040" y="3264408"/>
            <a:ext cx="640080" cy="640080"/>
          </a:xfrm>
          <a:prstGeom prst="ellipse">
            <a:avLst/>
          </a:prstGeom>
          <a:solidFill>
            <a:schemeClr val="accent2"/>
          </a:solidFill>
          <a:ln/>
        </p:spPr>
      </p:sp>
      <p:pic>
        <p:nvPicPr>
          <p:cNvPr id="21" name="Image 3" descr="Bell icon"/>
          <p:cNvPicPr>
            <a:picLocks noChangeAspect="1"/>
          </p:cNvPicPr>
          <p:nvPr/>
        </p:nvPicPr>
        <p:blipFill>
          <a:blip r:embed="rId6"/>
          <a:stretch>
            <a:fillRect/>
          </a:stretch>
        </p:blipFill>
        <p:spPr>
          <a:xfrm>
            <a:off x="5052060" y="3424428"/>
            <a:ext cx="320040" cy="320040"/>
          </a:xfrm>
          <a:prstGeom prst="rect">
            <a:avLst/>
          </a:prstGeom>
        </p:spPr>
      </p:pic>
      <p:sp>
        <p:nvSpPr>
          <p:cNvPr id="22" name="Text 15"/>
          <p:cNvSpPr txBox="1"/>
          <p:nvPr/>
        </p:nvSpPr>
        <p:spPr>
          <a:xfrm>
            <a:off x="5715000" y="3063240"/>
            <a:ext cx="2788920" cy="320040"/>
          </a:xfrm>
          <a:prstGeom prst="rect">
            <a:avLst/>
          </a:prstGeom>
          <a:noFill/>
          <a:ln/>
        </p:spPr>
        <p:txBody>
          <a:bodyPr wrap="square" lIns="0" tIns="0" rIns="0" bIns="0" rtlCol="0" anchor="t"/>
          <a:lstStyle/>
          <a:p>
            <a:pPr marL="0" indent="0" algn="l">
              <a:buNone/>
            </a:pPr>
            <a:r>
              <a:rPr lang="en-US" sz="1800" b="1" dirty="0">
                <a:solidFill>
                  <a:schemeClr val="bg1"/>
                </a:solidFill>
              </a:rPr>
              <a:t>Rooms keep real-time simple</a:t>
            </a:r>
            <a:endParaRPr lang="en-US" sz="1800" dirty="0"/>
          </a:p>
        </p:txBody>
      </p:sp>
      <p:sp>
        <p:nvSpPr>
          <p:cNvPr id="23" name="Text 16"/>
          <p:cNvSpPr txBox="1"/>
          <p:nvPr/>
        </p:nvSpPr>
        <p:spPr>
          <a:xfrm>
            <a:off x="5715000" y="3429000"/>
            <a:ext cx="2788920" cy="777240"/>
          </a:xfrm>
          <a:prstGeom prst="rect">
            <a:avLst/>
          </a:prstGeom>
          <a:noFill/>
          <a:ln/>
        </p:spPr>
        <p:txBody>
          <a:bodyPr wrap="square" lIns="0" tIns="0" rIns="0" bIns="0" rtlCol="0" anchor="t"/>
          <a:lstStyle/>
          <a:p>
            <a:pPr marL="0" indent="0" algn="l">
              <a:buNone/>
            </a:pPr>
            <a:r>
              <a:rPr lang="en-US" sz="1400" dirty="0">
                <a:solidFill>
                  <a:schemeClr val="bg2"/>
                </a:solidFill>
              </a:rPr>
              <a:t>Socket.IO rooms keyed by user ID target each alert</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bg2"/>
                </a:solidFill>
              </a:defRPr>
            </a:lvl1pPr>
          </a:lstStyle>
          <a:p>
            <a:pPr algn="r"/>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320040"/>
            <a:ext cx="8229600" cy="731520"/>
          </a:xfrm>
          <a:prstGeom prst="rect">
            <a:avLst/>
          </a:prstGeom>
          <a:noFill/>
          <a:ln/>
        </p:spPr>
        <p:txBody>
          <a:bodyPr wrap="square" lIns="0" tIns="0" rIns="0" bIns="0" rtlCol="0" anchor="ctr"/>
          <a:lstStyle/>
          <a:p>
            <a:pPr marL="0" indent="0" algn="l">
              <a:buNone/>
            </a:pPr>
            <a:r>
              <a:rPr lang="en-US" sz="3400" b="1" dirty="0">
                <a:solidFill>
                  <a:schemeClr val="tx2"/>
                </a:solidFill>
              </a:rPr>
              <a:t>Demo and screenshots</a:t>
            </a:r>
            <a:endParaRPr lang="en-US" sz="3400" dirty="0"/>
          </a:p>
        </p:txBody>
      </p:sp>
      <p:sp>
        <p:nvSpPr>
          <p:cNvPr id="4" name="Screenshot slot 1"/>
          <p:cNvSpPr/>
          <p:nvPr/>
        </p:nvSpPr>
        <p:spPr>
          <a:xfrm>
            <a:off x="457200" y="1280160"/>
            <a:ext cx="2596896" cy="1463040"/>
          </a:xfrm>
          <a:prstGeom prst="roundRect">
            <a:avLst>
              <a:gd name="adj" fmla="val 5000"/>
            </a:avLst>
          </a:prstGeom>
          <a:solidFill>
            <a:schemeClr val="bg2"/>
          </a:solidFill>
          <a:ln w="19050">
            <a:solidFill>
              <a:schemeClr val="accent6"/>
            </a:solidFill>
            <a:prstDash val="dash"/>
          </a:ln>
        </p:spPr>
      </p:sp>
      <p:pic>
        <p:nvPicPr>
          <p:cNvPr id="5" name="Image 0" descr="Image placeholder icon"/>
          <p:cNvPicPr>
            <a:picLocks noChangeAspect="1"/>
          </p:cNvPicPr>
          <p:nvPr/>
        </p:nvPicPr>
        <p:blipFill>
          <a:blip r:embed="rId3"/>
          <a:stretch>
            <a:fillRect/>
          </a:stretch>
        </p:blipFill>
        <p:spPr>
          <a:xfrm>
            <a:off x="1527048" y="1554480"/>
            <a:ext cx="457200" cy="457200"/>
          </a:xfrm>
          <a:prstGeom prst="rect">
            <a:avLst/>
          </a:prstGeom>
        </p:spPr>
      </p:pic>
      <p:sp>
        <p:nvSpPr>
          <p:cNvPr id="6" name="Text 2"/>
          <p:cNvSpPr txBox="1"/>
          <p:nvPr/>
        </p:nvSpPr>
        <p:spPr>
          <a:xfrm>
            <a:off x="548640" y="2148840"/>
            <a:ext cx="2414016" cy="457200"/>
          </a:xfrm>
          <a:prstGeom prst="rect">
            <a:avLst/>
          </a:prstGeom>
          <a:noFill/>
          <a:ln/>
        </p:spPr>
        <p:txBody>
          <a:bodyPr wrap="square" lIns="0" tIns="0" rIns="0" bIns="0" rtlCol="0" anchor="t"/>
          <a:lstStyle/>
          <a:p>
            <a:pPr marL="0" indent="0" algn="ctr">
              <a:buNone/>
            </a:pPr>
            <a:r>
              <a:rPr lang="en-US" sz="1400" b="1" dirty="0">
                <a:solidFill>
                  <a:schemeClr val="tx2"/>
                </a:solidFill>
              </a:rPr>
              <a:t>Home page hero</a:t>
            </a:r>
            <a:endParaRPr lang="en-US" sz="1400" dirty="0"/>
          </a:p>
        </p:txBody>
      </p:sp>
      <p:sp>
        <p:nvSpPr>
          <p:cNvPr id="7" name="Screenshot slot 2"/>
          <p:cNvSpPr/>
          <p:nvPr/>
        </p:nvSpPr>
        <p:spPr>
          <a:xfrm>
            <a:off x="3273552" y="1280160"/>
            <a:ext cx="2596896" cy="1463040"/>
          </a:xfrm>
          <a:prstGeom prst="roundRect">
            <a:avLst>
              <a:gd name="adj" fmla="val 5000"/>
            </a:avLst>
          </a:prstGeom>
          <a:solidFill>
            <a:schemeClr val="bg2"/>
          </a:solidFill>
          <a:ln w="19050">
            <a:solidFill>
              <a:schemeClr val="accent6"/>
            </a:solidFill>
            <a:prstDash val="dash"/>
          </a:ln>
        </p:spPr>
      </p:sp>
      <p:pic>
        <p:nvPicPr>
          <p:cNvPr id="8" name="Image 1" descr="Image placeholder icon"/>
          <p:cNvPicPr>
            <a:picLocks noChangeAspect="1"/>
          </p:cNvPicPr>
          <p:nvPr/>
        </p:nvPicPr>
        <p:blipFill>
          <a:blip r:embed="rId3"/>
          <a:stretch>
            <a:fillRect/>
          </a:stretch>
        </p:blipFill>
        <p:spPr>
          <a:xfrm>
            <a:off x="4343400" y="1554480"/>
            <a:ext cx="457200" cy="457200"/>
          </a:xfrm>
          <a:prstGeom prst="rect">
            <a:avLst/>
          </a:prstGeom>
        </p:spPr>
      </p:pic>
      <p:sp>
        <p:nvSpPr>
          <p:cNvPr id="9" name="Text 4"/>
          <p:cNvSpPr txBox="1"/>
          <p:nvPr/>
        </p:nvSpPr>
        <p:spPr>
          <a:xfrm>
            <a:off x="3364992" y="2148840"/>
            <a:ext cx="2414016" cy="457200"/>
          </a:xfrm>
          <a:prstGeom prst="rect">
            <a:avLst/>
          </a:prstGeom>
          <a:noFill/>
          <a:ln/>
        </p:spPr>
        <p:txBody>
          <a:bodyPr wrap="square" lIns="0" tIns="0" rIns="0" bIns="0" rtlCol="0" anchor="t"/>
          <a:lstStyle/>
          <a:p>
            <a:pPr marL="0" indent="0" algn="ctr">
              <a:buNone/>
            </a:pPr>
            <a:r>
              <a:rPr lang="en-US" sz="1400" b="1" dirty="0">
                <a:solidFill>
                  <a:schemeClr val="tx2"/>
                </a:solidFill>
              </a:rPr>
              <a:t>Report form with map pin</a:t>
            </a:r>
            <a:endParaRPr lang="en-US" sz="1400" dirty="0"/>
          </a:p>
        </p:txBody>
      </p:sp>
      <p:sp>
        <p:nvSpPr>
          <p:cNvPr id="10" name="Screenshot slot 3"/>
          <p:cNvSpPr/>
          <p:nvPr/>
        </p:nvSpPr>
        <p:spPr>
          <a:xfrm>
            <a:off x="6089904" y="1280160"/>
            <a:ext cx="2596896" cy="1463040"/>
          </a:xfrm>
          <a:prstGeom prst="roundRect">
            <a:avLst>
              <a:gd name="adj" fmla="val 5000"/>
            </a:avLst>
          </a:prstGeom>
          <a:solidFill>
            <a:schemeClr val="bg2"/>
          </a:solidFill>
          <a:ln w="19050">
            <a:solidFill>
              <a:schemeClr val="accent6"/>
            </a:solidFill>
            <a:prstDash val="dash"/>
          </a:ln>
        </p:spPr>
      </p:sp>
      <p:pic>
        <p:nvPicPr>
          <p:cNvPr id="11" name="Image 2" descr="Image placeholder icon"/>
          <p:cNvPicPr>
            <a:picLocks noChangeAspect="1"/>
          </p:cNvPicPr>
          <p:nvPr/>
        </p:nvPicPr>
        <p:blipFill>
          <a:blip r:embed="rId3"/>
          <a:stretch>
            <a:fillRect/>
          </a:stretch>
        </p:blipFill>
        <p:spPr>
          <a:xfrm>
            <a:off x="7159752" y="1554480"/>
            <a:ext cx="457200" cy="457200"/>
          </a:xfrm>
          <a:prstGeom prst="rect">
            <a:avLst/>
          </a:prstGeom>
        </p:spPr>
      </p:pic>
      <p:sp>
        <p:nvSpPr>
          <p:cNvPr id="12" name="Text 6"/>
          <p:cNvSpPr txBox="1"/>
          <p:nvPr/>
        </p:nvSpPr>
        <p:spPr>
          <a:xfrm>
            <a:off x="6181344" y="2148840"/>
            <a:ext cx="2414016" cy="457200"/>
          </a:xfrm>
          <a:prstGeom prst="rect">
            <a:avLst/>
          </a:prstGeom>
          <a:noFill/>
          <a:ln/>
        </p:spPr>
        <p:txBody>
          <a:bodyPr wrap="square" lIns="0" tIns="0" rIns="0" bIns="0" rtlCol="0" anchor="t"/>
          <a:lstStyle/>
          <a:p>
            <a:pPr marL="0" indent="0" algn="ctr">
              <a:buNone/>
            </a:pPr>
            <a:r>
              <a:rPr lang="en-US" sz="1400" b="1" dirty="0">
                <a:solidFill>
                  <a:schemeClr val="tx2"/>
                </a:solidFill>
              </a:rPr>
              <a:t>AI matches with a % score</a:t>
            </a:r>
            <a:endParaRPr lang="en-US" sz="1400" dirty="0"/>
          </a:p>
        </p:txBody>
      </p:sp>
      <p:sp>
        <p:nvSpPr>
          <p:cNvPr id="13" name="Screenshot slot 4"/>
          <p:cNvSpPr/>
          <p:nvPr/>
        </p:nvSpPr>
        <p:spPr>
          <a:xfrm>
            <a:off x="457200" y="2926080"/>
            <a:ext cx="2596896" cy="1463040"/>
          </a:xfrm>
          <a:prstGeom prst="roundRect">
            <a:avLst>
              <a:gd name="adj" fmla="val 5000"/>
            </a:avLst>
          </a:prstGeom>
          <a:solidFill>
            <a:schemeClr val="bg2"/>
          </a:solidFill>
          <a:ln w="19050">
            <a:solidFill>
              <a:schemeClr val="accent6"/>
            </a:solidFill>
            <a:prstDash val="dash"/>
          </a:ln>
        </p:spPr>
      </p:sp>
      <p:pic>
        <p:nvPicPr>
          <p:cNvPr id="14" name="Image 3" descr="Image placeholder icon"/>
          <p:cNvPicPr>
            <a:picLocks noChangeAspect="1"/>
          </p:cNvPicPr>
          <p:nvPr/>
        </p:nvPicPr>
        <p:blipFill>
          <a:blip r:embed="rId3"/>
          <a:stretch>
            <a:fillRect/>
          </a:stretch>
        </p:blipFill>
        <p:spPr>
          <a:xfrm>
            <a:off x="1527048" y="3200400"/>
            <a:ext cx="457200" cy="457200"/>
          </a:xfrm>
          <a:prstGeom prst="rect">
            <a:avLst/>
          </a:prstGeom>
        </p:spPr>
      </p:pic>
      <p:sp>
        <p:nvSpPr>
          <p:cNvPr id="15" name="Text 8"/>
          <p:cNvSpPr txBox="1"/>
          <p:nvPr/>
        </p:nvSpPr>
        <p:spPr>
          <a:xfrm>
            <a:off x="548640" y="3794760"/>
            <a:ext cx="2414016" cy="457200"/>
          </a:xfrm>
          <a:prstGeom prst="rect">
            <a:avLst/>
          </a:prstGeom>
          <a:noFill/>
          <a:ln/>
        </p:spPr>
        <p:txBody>
          <a:bodyPr wrap="square" lIns="0" tIns="0" rIns="0" bIns="0" rtlCol="0" anchor="t"/>
          <a:lstStyle/>
          <a:p>
            <a:pPr marL="0" indent="0" algn="ctr">
              <a:buNone/>
            </a:pPr>
            <a:r>
              <a:rPr lang="en-US" sz="1400" b="1" dirty="0">
                <a:solidFill>
                  <a:schemeClr val="tx2"/>
                </a:solidFill>
              </a:rPr>
              <a:t>Claims panel</a:t>
            </a:r>
            <a:endParaRPr lang="en-US" sz="1400" dirty="0"/>
          </a:p>
        </p:txBody>
      </p:sp>
      <p:sp>
        <p:nvSpPr>
          <p:cNvPr id="16" name="Screenshot slot 5"/>
          <p:cNvSpPr/>
          <p:nvPr/>
        </p:nvSpPr>
        <p:spPr>
          <a:xfrm>
            <a:off x="3273552" y="2926080"/>
            <a:ext cx="2596896" cy="1463040"/>
          </a:xfrm>
          <a:prstGeom prst="roundRect">
            <a:avLst>
              <a:gd name="adj" fmla="val 5000"/>
            </a:avLst>
          </a:prstGeom>
          <a:solidFill>
            <a:schemeClr val="bg2"/>
          </a:solidFill>
          <a:ln w="19050">
            <a:solidFill>
              <a:schemeClr val="accent6"/>
            </a:solidFill>
            <a:prstDash val="dash"/>
          </a:ln>
        </p:spPr>
      </p:sp>
      <p:pic>
        <p:nvPicPr>
          <p:cNvPr id="17" name="Image 4" descr="Image placeholder icon"/>
          <p:cNvPicPr>
            <a:picLocks noChangeAspect="1"/>
          </p:cNvPicPr>
          <p:nvPr/>
        </p:nvPicPr>
        <p:blipFill>
          <a:blip r:embed="rId3"/>
          <a:stretch>
            <a:fillRect/>
          </a:stretch>
        </p:blipFill>
        <p:spPr>
          <a:xfrm>
            <a:off x="4343400" y="3200400"/>
            <a:ext cx="457200" cy="457200"/>
          </a:xfrm>
          <a:prstGeom prst="rect">
            <a:avLst/>
          </a:prstGeom>
        </p:spPr>
      </p:pic>
      <p:sp>
        <p:nvSpPr>
          <p:cNvPr id="18" name="Text 10"/>
          <p:cNvSpPr txBox="1"/>
          <p:nvPr/>
        </p:nvSpPr>
        <p:spPr>
          <a:xfrm>
            <a:off x="3364992" y="3794760"/>
            <a:ext cx="2414016" cy="457200"/>
          </a:xfrm>
          <a:prstGeom prst="rect">
            <a:avLst/>
          </a:prstGeom>
          <a:noFill/>
          <a:ln/>
        </p:spPr>
        <p:txBody>
          <a:bodyPr wrap="square" lIns="0" tIns="0" rIns="0" bIns="0" rtlCol="0" anchor="t"/>
          <a:lstStyle/>
          <a:p>
            <a:pPr marL="0" indent="0" algn="ctr">
              <a:buNone/>
            </a:pPr>
            <a:r>
              <a:rPr lang="en-US" sz="1400" b="1" dirty="0">
                <a:solidFill>
                  <a:schemeClr val="tx2"/>
                </a:solidFill>
              </a:rPr>
              <a:t>Admin dashboard</a:t>
            </a:r>
            <a:endParaRPr lang="en-US" sz="1400" dirty="0"/>
          </a:p>
        </p:txBody>
      </p:sp>
      <p:sp>
        <p:nvSpPr>
          <p:cNvPr id="19" name="Screenshot slot 6"/>
          <p:cNvSpPr/>
          <p:nvPr/>
        </p:nvSpPr>
        <p:spPr>
          <a:xfrm>
            <a:off x="6089904" y="2926080"/>
            <a:ext cx="2596896" cy="1463040"/>
          </a:xfrm>
          <a:prstGeom prst="roundRect">
            <a:avLst>
              <a:gd name="adj" fmla="val 5000"/>
            </a:avLst>
          </a:prstGeom>
          <a:solidFill>
            <a:schemeClr val="bg2"/>
          </a:solidFill>
          <a:ln w="19050">
            <a:solidFill>
              <a:schemeClr val="accent6"/>
            </a:solidFill>
            <a:prstDash val="dash"/>
          </a:ln>
        </p:spPr>
      </p:sp>
      <p:pic>
        <p:nvPicPr>
          <p:cNvPr id="20" name="Image 5" descr="Image placeholder icon"/>
          <p:cNvPicPr>
            <a:picLocks noChangeAspect="1"/>
          </p:cNvPicPr>
          <p:nvPr/>
        </p:nvPicPr>
        <p:blipFill>
          <a:blip r:embed="rId3"/>
          <a:stretch>
            <a:fillRect/>
          </a:stretch>
        </p:blipFill>
        <p:spPr>
          <a:xfrm>
            <a:off x="7159752" y="3200400"/>
            <a:ext cx="457200" cy="457200"/>
          </a:xfrm>
          <a:prstGeom prst="rect">
            <a:avLst/>
          </a:prstGeom>
        </p:spPr>
      </p:pic>
      <p:sp>
        <p:nvSpPr>
          <p:cNvPr id="21" name="Text 12"/>
          <p:cNvSpPr txBox="1"/>
          <p:nvPr/>
        </p:nvSpPr>
        <p:spPr>
          <a:xfrm>
            <a:off x="6181344" y="3794760"/>
            <a:ext cx="2414016" cy="457200"/>
          </a:xfrm>
          <a:prstGeom prst="rect">
            <a:avLst/>
          </a:prstGeom>
          <a:noFill/>
          <a:ln/>
        </p:spPr>
        <p:txBody>
          <a:bodyPr wrap="square" lIns="0" tIns="0" rIns="0" bIns="0" rtlCol="0" anchor="t"/>
          <a:lstStyle/>
          <a:p>
            <a:pPr marL="0" indent="0" algn="ctr">
              <a:buNone/>
            </a:pPr>
            <a:r>
              <a:rPr lang="en-US" sz="1400" b="1" dirty="0">
                <a:solidFill>
                  <a:schemeClr val="tx2"/>
                </a:solidFill>
              </a:rPr>
              <a:t>Real-time toast</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320040"/>
            <a:ext cx="8229600" cy="731520"/>
          </a:xfrm>
          <a:prstGeom prst="rect">
            <a:avLst/>
          </a:prstGeom>
          <a:noFill/>
          <a:ln/>
        </p:spPr>
        <p:txBody>
          <a:bodyPr wrap="square" lIns="0" tIns="0" rIns="0" bIns="0" rtlCol="0" anchor="ctr"/>
          <a:lstStyle/>
          <a:p>
            <a:pPr marL="0" indent="0" algn="l">
              <a:buNone/>
            </a:pPr>
            <a:r>
              <a:rPr lang="en-US" sz="3400" b="1" dirty="0">
                <a:solidFill>
                  <a:schemeClr val="tx2"/>
                </a:solidFill>
              </a:rPr>
              <a:t>What's next</a:t>
            </a:r>
            <a:endParaRPr lang="en-US" sz="3400" dirty="0"/>
          </a:p>
        </p:txBody>
      </p:sp>
      <p:sp>
        <p:nvSpPr>
          <p:cNvPr id="4" name="Timeline"/>
          <p:cNvSpPr/>
          <p:nvPr/>
        </p:nvSpPr>
        <p:spPr>
          <a:xfrm>
            <a:off x="822960" y="2103120"/>
            <a:ext cx="7498080" cy="0"/>
          </a:xfrm>
          <a:prstGeom prst="line">
            <a:avLst/>
          </a:prstGeom>
          <a:noFill/>
          <a:ln w="25400">
            <a:solidFill>
              <a:schemeClr val="accent6"/>
            </a:solidFill>
            <a:prstDash val="solid"/>
          </a:ln>
        </p:spPr>
      </p:sp>
      <p:sp>
        <p:nvSpPr>
          <p:cNvPr id="5" name="Icon circle FaMobileAlt"/>
          <p:cNvSpPr/>
          <p:nvPr/>
        </p:nvSpPr>
        <p:spPr>
          <a:xfrm>
            <a:off x="868680" y="1691640"/>
            <a:ext cx="822960" cy="822960"/>
          </a:xfrm>
          <a:prstGeom prst="ellipse">
            <a:avLst/>
          </a:prstGeom>
          <a:solidFill>
            <a:schemeClr val="accent1"/>
          </a:solidFill>
          <a:ln/>
        </p:spPr>
      </p:sp>
      <p:pic>
        <p:nvPicPr>
          <p:cNvPr id="6" name="Image 0" descr="MobileAlt icon"/>
          <p:cNvPicPr>
            <a:picLocks noChangeAspect="1"/>
          </p:cNvPicPr>
          <p:nvPr/>
        </p:nvPicPr>
        <p:blipFill>
          <a:blip r:embed="rId3"/>
          <a:stretch>
            <a:fillRect/>
          </a:stretch>
        </p:blipFill>
        <p:spPr>
          <a:xfrm>
            <a:off x="1074420" y="1897380"/>
            <a:ext cx="411480" cy="411480"/>
          </a:xfrm>
          <a:prstGeom prst="rect">
            <a:avLst/>
          </a:prstGeom>
        </p:spPr>
      </p:pic>
      <p:sp>
        <p:nvSpPr>
          <p:cNvPr id="7" name="Text 3"/>
          <p:cNvSpPr txBox="1"/>
          <p:nvPr/>
        </p:nvSpPr>
        <p:spPr>
          <a:xfrm>
            <a:off x="548640" y="2697480"/>
            <a:ext cx="1463040" cy="822960"/>
          </a:xfrm>
          <a:prstGeom prst="rect">
            <a:avLst/>
          </a:prstGeom>
          <a:noFill/>
          <a:ln/>
        </p:spPr>
        <p:txBody>
          <a:bodyPr wrap="square" lIns="0" tIns="0" rIns="0" bIns="0" rtlCol="0" anchor="t"/>
          <a:lstStyle/>
          <a:p>
            <a:pPr marL="0" indent="0" algn="ctr">
              <a:buNone/>
            </a:pPr>
            <a:r>
              <a:rPr lang="en-US" sz="1600" b="1" dirty="0">
                <a:solidFill>
                  <a:schemeClr val="tx2"/>
                </a:solidFill>
              </a:rPr>
              <a:t>Mobile app</a:t>
            </a:r>
            <a:endParaRPr lang="en-US" sz="1600" dirty="0"/>
          </a:p>
        </p:txBody>
      </p:sp>
      <p:sp>
        <p:nvSpPr>
          <p:cNvPr id="8" name="Icon circle FaEnvelope"/>
          <p:cNvSpPr/>
          <p:nvPr/>
        </p:nvSpPr>
        <p:spPr>
          <a:xfrm>
            <a:off x="2514600" y="1691640"/>
            <a:ext cx="822960" cy="822960"/>
          </a:xfrm>
          <a:prstGeom prst="ellipse">
            <a:avLst/>
          </a:prstGeom>
          <a:solidFill>
            <a:schemeClr val="accent1"/>
          </a:solidFill>
          <a:ln/>
        </p:spPr>
      </p:sp>
      <p:pic>
        <p:nvPicPr>
          <p:cNvPr id="9" name="Image 1" descr="Envelope icon"/>
          <p:cNvPicPr>
            <a:picLocks noChangeAspect="1"/>
          </p:cNvPicPr>
          <p:nvPr/>
        </p:nvPicPr>
        <p:blipFill>
          <a:blip r:embed="rId4"/>
          <a:stretch>
            <a:fillRect/>
          </a:stretch>
        </p:blipFill>
        <p:spPr>
          <a:xfrm>
            <a:off x="2720340" y="1897380"/>
            <a:ext cx="411480" cy="411480"/>
          </a:xfrm>
          <a:prstGeom prst="rect">
            <a:avLst/>
          </a:prstGeom>
        </p:spPr>
      </p:pic>
      <p:sp>
        <p:nvSpPr>
          <p:cNvPr id="10" name="Text 5"/>
          <p:cNvSpPr txBox="1"/>
          <p:nvPr/>
        </p:nvSpPr>
        <p:spPr>
          <a:xfrm>
            <a:off x="2194560" y="2697480"/>
            <a:ext cx="1463040" cy="822960"/>
          </a:xfrm>
          <a:prstGeom prst="rect">
            <a:avLst/>
          </a:prstGeom>
          <a:noFill/>
          <a:ln/>
        </p:spPr>
        <p:txBody>
          <a:bodyPr wrap="square" lIns="0" tIns="0" rIns="0" bIns="0" rtlCol="0" anchor="t"/>
          <a:lstStyle/>
          <a:p>
            <a:pPr marL="0" indent="0" algn="ctr">
              <a:buNone/>
            </a:pPr>
            <a:r>
              <a:rPr lang="en-US" sz="1600" b="1" dirty="0">
                <a:solidFill>
                  <a:schemeClr val="tx2"/>
                </a:solidFill>
              </a:rPr>
              <a:t>Email alerts</a:t>
            </a:r>
            <a:endParaRPr lang="en-US" sz="1600" dirty="0"/>
          </a:p>
        </p:txBody>
      </p:sp>
      <p:sp>
        <p:nvSpPr>
          <p:cNvPr id="11" name="Icon circle FaSms"/>
          <p:cNvSpPr/>
          <p:nvPr/>
        </p:nvSpPr>
        <p:spPr>
          <a:xfrm>
            <a:off x="4160520" y="1691640"/>
            <a:ext cx="822960" cy="822960"/>
          </a:xfrm>
          <a:prstGeom prst="ellipse">
            <a:avLst/>
          </a:prstGeom>
          <a:solidFill>
            <a:schemeClr val="accent1"/>
          </a:solidFill>
          <a:ln/>
        </p:spPr>
      </p:sp>
      <p:pic>
        <p:nvPicPr>
          <p:cNvPr id="12" name="Image 2" descr="Sms icon"/>
          <p:cNvPicPr>
            <a:picLocks noChangeAspect="1"/>
          </p:cNvPicPr>
          <p:nvPr/>
        </p:nvPicPr>
        <p:blipFill>
          <a:blip r:embed="rId5"/>
          <a:stretch>
            <a:fillRect/>
          </a:stretch>
        </p:blipFill>
        <p:spPr>
          <a:xfrm>
            <a:off x="4366260" y="1897380"/>
            <a:ext cx="411480" cy="411480"/>
          </a:xfrm>
          <a:prstGeom prst="rect">
            <a:avLst/>
          </a:prstGeom>
        </p:spPr>
      </p:pic>
      <p:sp>
        <p:nvSpPr>
          <p:cNvPr id="13" name="Text 7"/>
          <p:cNvSpPr txBox="1"/>
          <p:nvPr/>
        </p:nvSpPr>
        <p:spPr>
          <a:xfrm>
            <a:off x="3840480" y="2697480"/>
            <a:ext cx="1463040" cy="822960"/>
          </a:xfrm>
          <a:prstGeom prst="rect">
            <a:avLst/>
          </a:prstGeom>
          <a:noFill/>
          <a:ln/>
        </p:spPr>
        <p:txBody>
          <a:bodyPr wrap="square" lIns="0" tIns="0" rIns="0" bIns="0" rtlCol="0" anchor="t"/>
          <a:lstStyle/>
          <a:p>
            <a:pPr marL="0" indent="0" algn="ctr">
              <a:buNone/>
            </a:pPr>
            <a:r>
              <a:rPr lang="en-US" sz="1600" b="1" dirty="0">
                <a:solidFill>
                  <a:schemeClr val="tx2"/>
                </a:solidFill>
              </a:rPr>
              <a:t>SMS alerts</a:t>
            </a:r>
            <a:endParaRPr lang="en-US" sz="1600" dirty="0"/>
          </a:p>
        </p:txBody>
      </p:sp>
      <p:sp>
        <p:nvSpPr>
          <p:cNvPr id="14" name="Icon circle FaImage"/>
          <p:cNvSpPr/>
          <p:nvPr/>
        </p:nvSpPr>
        <p:spPr>
          <a:xfrm>
            <a:off x="5806440" y="1691640"/>
            <a:ext cx="822960" cy="822960"/>
          </a:xfrm>
          <a:prstGeom prst="ellipse">
            <a:avLst/>
          </a:prstGeom>
          <a:solidFill>
            <a:schemeClr val="accent3"/>
          </a:solidFill>
          <a:ln/>
        </p:spPr>
      </p:sp>
      <p:pic>
        <p:nvPicPr>
          <p:cNvPr id="15" name="Image 3" descr="Image icon"/>
          <p:cNvPicPr>
            <a:picLocks noChangeAspect="1"/>
          </p:cNvPicPr>
          <p:nvPr/>
        </p:nvPicPr>
        <p:blipFill>
          <a:blip r:embed="rId6"/>
          <a:stretch>
            <a:fillRect/>
          </a:stretch>
        </p:blipFill>
        <p:spPr>
          <a:xfrm>
            <a:off x="6012180" y="1897380"/>
            <a:ext cx="411480" cy="411480"/>
          </a:xfrm>
          <a:prstGeom prst="rect">
            <a:avLst/>
          </a:prstGeom>
        </p:spPr>
      </p:pic>
      <p:sp>
        <p:nvSpPr>
          <p:cNvPr id="16" name="Text 9"/>
          <p:cNvSpPr txBox="1"/>
          <p:nvPr/>
        </p:nvSpPr>
        <p:spPr>
          <a:xfrm>
            <a:off x="5486400" y="2697480"/>
            <a:ext cx="1463040" cy="822960"/>
          </a:xfrm>
          <a:prstGeom prst="rect">
            <a:avLst/>
          </a:prstGeom>
          <a:noFill/>
          <a:ln/>
        </p:spPr>
        <p:txBody>
          <a:bodyPr wrap="square" lIns="0" tIns="0" rIns="0" bIns="0" rtlCol="0" anchor="t"/>
          <a:lstStyle/>
          <a:p>
            <a:pPr marL="0" indent="0" algn="ctr">
              <a:buNone/>
            </a:pPr>
            <a:r>
              <a:rPr lang="en-US" sz="1600" b="1" dirty="0">
                <a:solidFill>
                  <a:schemeClr val="tx2"/>
                </a:solidFill>
              </a:rPr>
              <a:t>Image matching with CLIP</a:t>
            </a:r>
            <a:endParaRPr lang="en-US" sz="1600" dirty="0"/>
          </a:p>
        </p:txBody>
      </p:sp>
      <p:sp>
        <p:nvSpPr>
          <p:cNvPr id="17" name="Icon circle FaGlobe"/>
          <p:cNvSpPr/>
          <p:nvPr/>
        </p:nvSpPr>
        <p:spPr>
          <a:xfrm>
            <a:off x="7452360" y="1691640"/>
            <a:ext cx="822960" cy="822960"/>
          </a:xfrm>
          <a:prstGeom prst="ellipse">
            <a:avLst/>
          </a:prstGeom>
          <a:solidFill>
            <a:schemeClr val="accent1"/>
          </a:solidFill>
          <a:ln/>
        </p:spPr>
      </p:sp>
      <p:pic>
        <p:nvPicPr>
          <p:cNvPr id="18" name="Image 4" descr="Globe icon"/>
          <p:cNvPicPr>
            <a:picLocks noChangeAspect="1"/>
          </p:cNvPicPr>
          <p:nvPr/>
        </p:nvPicPr>
        <p:blipFill>
          <a:blip r:embed="rId7"/>
          <a:stretch>
            <a:fillRect/>
          </a:stretch>
        </p:blipFill>
        <p:spPr>
          <a:xfrm>
            <a:off x="7658100" y="1897380"/>
            <a:ext cx="411480" cy="411480"/>
          </a:xfrm>
          <a:prstGeom prst="rect">
            <a:avLst/>
          </a:prstGeom>
        </p:spPr>
      </p:pic>
      <p:sp>
        <p:nvSpPr>
          <p:cNvPr id="19" name="Text 11"/>
          <p:cNvSpPr txBox="1"/>
          <p:nvPr/>
        </p:nvSpPr>
        <p:spPr>
          <a:xfrm>
            <a:off x="7132320" y="2697480"/>
            <a:ext cx="1463040" cy="822960"/>
          </a:xfrm>
          <a:prstGeom prst="rect">
            <a:avLst/>
          </a:prstGeom>
          <a:noFill/>
          <a:ln/>
        </p:spPr>
        <p:txBody>
          <a:bodyPr wrap="square" lIns="0" tIns="0" rIns="0" bIns="0" rtlCol="0" anchor="t"/>
          <a:lstStyle/>
          <a:p>
            <a:pPr marL="0" indent="0" algn="ctr">
              <a:buNone/>
            </a:pPr>
            <a:r>
              <a:rPr lang="en-US" sz="1600" b="1" dirty="0">
                <a:solidFill>
                  <a:schemeClr val="tx2"/>
                </a:solidFill>
              </a:rPr>
              <a:t>Multi-language support</a:t>
            </a:r>
            <a:endParaRPr lang="en-US" sz="1600" dirty="0"/>
          </a:p>
        </p:txBody>
      </p:sp>
      <p:sp>
        <p:nvSpPr>
          <p:cNvPr id="20" name="Shape 12"/>
          <p:cNvSpPr/>
          <p:nvPr/>
        </p:nvSpPr>
        <p:spPr>
          <a:xfrm>
            <a:off x="457200" y="3703320"/>
            <a:ext cx="8229600" cy="777240"/>
          </a:xfrm>
          <a:prstGeom prst="roundRect">
            <a:avLst>
              <a:gd name="adj" fmla="val 9412"/>
            </a:avLst>
          </a:prstGeom>
          <a:solidFill>
            <a:schemeClr val="tx2"/>
          </a:solidFill>
          <a:ln/>
        </p:spPr>
      </p:sp>
      <p:sp>
        <p:nvSpPr>
          <p:cNvPr id="21" name="Text 13"/>
          <p:cNvSpPr txBox="1"/>
          <p:nvPr/>
        </p:nvSpPr>
        <p:spPr>
          <a:xfrm>
            <a:off x="731520" y="3703320"/>
            <a:ext cx="7680960" cy="777240"/>
          </a:xfrm>
          <a:prstGeom prst="rect">
            <a:avLst/>
          </a:prstGeom>
          <a:noFill/>
          <a:ln/>
        </p:spPr>
        <p:txBody>
          <a:bodyPr wrap="square" lIns="0" tIns="0" rIns="0" bIns="0" rtlCol="0" anchor="ctr"/>
          <a:lstStyle/>
          <a:p>
            <a:pPr marL="0" indent="0" algn="l">
              <a:buNone/>
            </a:pPr>
            <a:r>
              <a:rPr lang="en-US" sz="1800" dirty="0">
                <a:solidFill>
                  <a:schemeClr val="bg1"/>
                </a:solidFill>
              </a:rPr>
              <a:t>Image embeddings would let photos match photos, not just text descriptions.</a:t>
            </a:r>
            <a:endParaRPr lang="en-US" sz="18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640080" y="1188720"/>
            <a:ext cx="5303520" cy="1280160"/>
          </a:xfrm>
          <a:prstGeom prst="rect">
            <a:avLst/>
          </a:prstGeom>
          <a:noFill/>
          <a:ln/>
        </p:spPr>
        <p:txBody>
          <a:bodyPr wrap="square" lIns="0" tIns="0" rIns="0" bIns="0" rtlCol="0" anchor="b"/>
          <a:lstStyle/>
          <a:p>
            <a:pPr marL="0" indent="0" algn="l">
              <a:buNone/>
            </a:pPr>
            <a:r>
              <a:rPr lang="en-US" sz="6000" b="1" dirty="0">
                <a:solidFill>
                  <a:schemeClr val="bg1"/>
                </a:solidFill>
              </a:rPr>
              <a:t>Thank you</a:t>
            </a:r>
            <a:endParaRPr lang="en-US" sz="6000" dirty="0"/>
          </a:p>
        </p:txBody>
      </p:sp>
      <p:sp>
        <p:nvSpPr>
          <p:cNvPr id="3" name="Text 1"/>
          <p:cNvSpPr>
            <a:spLocks noGrp="1"/>
          </p:cNvSpPr>
          <p:nvPr>
            <p:ph type="body" idx="102" hasCustomPrompt="1"/>
          </p:nvPr>
        </p:nvSpPr>
        <p:spPr>
          <a:xfrm>
            <a:off x="640080" y="2651760"/>
            <a:ext cx="5120640" cy="1097280"/>
          </a:xfrm>
          <a:prstGeom prst="rect">
            <a:avLst/>
          </a:prstGeom>
          <a:noFill/>
          <a:ln/>
        </p:spPr>
        <p:txBody>
          <a:bodyPr wrap="square" lIns="0" tIns="0" rIns="0" bIns="0" rtlCol="0" anchor="t"/>
          <a:lstStyle/>
          <a:p>
            <a:pPr marL="0" indent="0" algn="l">
              <a:buNone/>
            </a:pPr>
            <a:r>
              <a:rPr lang="en-US" sz="2000" dirty="0">
                <a:solidFill>
                  <a:schemeClr val="accent2"/>
                </a:solidFill>
              </a:rPr>
              <a:t>Questions?</a:t>
            </a:r>
            <a:endParaRPr lang="en-US" sz="2000" dirty="0"/>
          </a:p>
        </p:txBody>
      </p:sp>
      <p:sp>
        <p:nvSpPr>
          <p:cNvPr id="4" name="Text 2"/>
          <p:cNvSpPr txBox="1"/>
          <p:nvPr/>
        </p:nvSpPr>
        <p:spPr>
          <a:xfrm>
            <a:off x="640080" y="4023360"/>
            <a:ext cx="5029200" cy="320040"/>
          </a:xfrm>
          <a:prstGeom prst="rect">
            <a:avLst/>
          </a:prstGeom>
          <a:noFill/>
          <a:ln/>
        </p:spPr>
        <p:txBody>
          <a:bodyPr wrap="square" lIns="0" tIns="0" rIns="0" bIns="0" rtlCol="0" anchor="t"/>
          <a:lstStyle/>
          <a:p>
            <a:pPr marL="0" indent="0" algn="l">
              <a:buNone/>
            </a:pPr>
            <a:r>
              <a:rPr lang="en-US" sz="1600" b="1" dirty="0">
                <a:solidFill>
                  <a:schemeClr val="bg1"/>
                </a:solidFill>
              </a:rPr>
              <a:t>[Lucky Adhikari]  |  [luckysadhikari4321@gmail.com]</a:t>
            </a:r>
            <a:endParaRPr lang="en-US" sz="1600" dirty="0"/>
          </a:p>
        </p:txBody>
      </p:sp>
      <p:sp>
        <p:nvSpPr>
          <p:cNvPr id="5" name="Text 3"/>
          <p:cNvSpPr txBox="1"/>
          <p:nvPr/>
        </p:nvSpPr>
        <p:spPr>
          <a:xfrm>
            <a:off x="640080" y="4389120"/>
            <a:ext cx="8389620" cy="274320"/>
          </a:xfrm>
          <a:prstGeom prst="rect">
            <a:avLst/>
          </a:prstGeom>
          <a:noFill/>
          <a:ln/>
        </p:spPr>
        <p:txBody>
          <a:bodyPr wrap="square" lIns="0" tIns="0" rIns="0" bIns="0" rtlCol="0" anchor="t"/>
          <a:lstStyle/>
          <a:p>
            <a:r>
              <a:rPr lang="en-US" sz="1400" dirty="0">
                <a:solidFill>
                  <a:schemeClr val="bg2"/>
                </a:solidFill>
              </a:rPr>
              <a:t>GitHub: [</a:t>
            </a:r>
            <a:r>
              <a:rPr lang="en-US" sz="1100" dirty="0">
                <a:hlinkClick r:id="rId3"/>
              </a:rPr>
              <a:t>pa432/Lost-and-Found-Service-Management: A full-stack web application that streamlines the process of reporting, searching, and recovering lost items in colleges, offices, and public spaces. The system uses a multi-modal AI matching engine—combining text and image embeddings—to automatically suggest potential matches</a:t>
            </a:r>
            <a:r>
              <a:rPr lang="en-US" sz="1400" dirty="0">
                <a:hlinkClick r:id="rId3"/>
              </a:rPr>
              <a:t>.</a:t>
            </a:r>
            <a:r>
              <a:rPr lang="en-US" sz="1400" dirty="0">
                <a:solidFill>
                  <a:schemeClr val="bg2"/>
                </a:solidFill>
              </a:rPr>
              <a:t>]   |   LinkedIn: [link]</a:t>
            </a:r>
            <a:endParaRPr lang="en-US" sz="1400" dirty="0"/>
          </a:p>
        </p:txBody>
      </p:sp>
      <p:sp>
        <p:nvSpPr>
          <p:cNvPr id="6" name="QR slot"/>
          <p:cNvSpPr/>
          <p:nvPr/>
        </p:nvSpPr>
        <p:spPr>
          <a:xfrm>
            <a:off x="6400800" y="1371600"/>
            <a:ext cx="2194560" cy="2194560"/>
          </a:xfrm>
          <a:prstGeom prst="roundRect">
            <a:avLst>
              <a:gd name="adj" fmla="val 4167"/>
            </a:avLst>
          </a:prstGeom>
          <a:solidFill>
            <a:schemeClr val="bg1">
              <a:alpha val="8000"/>
            </a:schemeClr>
          </a:solidFill>
          <a:ln w="19050">
            <a:solidFill>
              <a:schemeClr val="bg1"/>
            </a:solidFill>
            <a:prstDash val="dash"/>
          </a:ln>
        </p:spPr>
      </p:sp>
      <p:sp>
        <p:nvSpPr>
          <p:cNvPr id="7" name="Text 5"/>
          <p:cNvSpPr txBox="1"/>
          <p:nvPr/>
        </p:nvSpPr>
        <p:spPr>
          <a:xfrm>
            <a:off x="6583680" y="1371600"/>
            <a:ext cx="1828800" cy="2194560"/>
          </a:xfrm>
          <a:prstGeom prst="rect">
            <a:avLst/>
          </a:prstGeom>
          <a:noFill/>
          <a:ln/>
        </p:spPr>
        <p:txBody>
          <a:bodyPr wrap="square" lIns="0" tIns="0" rIns="0" bIns="0" rtlCol="0" anchor="ctr"/>
          <a:lstStyle/>
          <a:p>
            <a:pPr marL="0" indent="0" algn="ctr">
              <a:buNone/>
            </a:pPr>
            <a:r>
              <a:rPr lang="en-US" sz="1400" dirty="0">
                <a:solidFill>
                  <a:schemeClr val="bg2"/>
                </a:solidFill>
              </a:rPr>
              <a:t>QR code to repo or live demo</a:t>
            </a:r>
            <a:endParaRPr lang="en-US" sz="1400" dirty="0"/>
          </a:p>
        </p:txBody>
      </p:sp>
    </p:spTree>
  </p:cSld>
  <p:clrMapOvr>
    <a:masterClrMapping/>
  </p:clrMapOvr>
</p:sld>
</file>

<file path=ppt/theme/theme1.xml><?xml version="1.0" encoding="utf-8"?>
<a:theme xmlns:a="http://schemas.openxmlformats.org/drawingml/2006/main" name="FindBack">
  <a:themeElements>
    <a:clrScheme name="FindBack">
      <a:dk1>
        <a:srgbClr val="1B2A41"/>
      </a:dk1>
      <a:lt1>
        <a:srgbClr val="FFFFFF"/>
      </a:lt1>
      <a:dk2>
        <a:srgbClr val="0B3C49"/>
      </a:dk2>
      <a:lt2>
        <a:srgbClr val="EEF4F5"/>
      </a:lt2>
      <a:accent1>
        <a:srgbClr val="0E7C86"/>
      </a:accent1>
      <a:accent2>
        <a:srgbClr val="F2A541"/>
      </a:accent2>
      <a:accent3>
        <a:srgbClr val="C8431F"/>
      </a:accent3>
      <a:accent4>
        <a:srgbClr val="2E7D4F"/>
      </a:accent4>
      <a:accent5>
        <a:srgbClr val="4C63C9"/>
      </a:accent5>
      <a:accent6>
        <a:srgbClr val="6B7C8A"/>
      </a:accent6>
      <a:hlink>
        <a:srgbClr val="0E7C86"/>
      </a:hlink>
      <a:folHlink>
        <a:srgbClr val="6B7C8A"/>
      </a:folHlink>
    </a:clrScheme>
    <a:fontScheme name="FindBack">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TotalTime>
  <Words>1289</Words>
  <Application>Microsoft Office PowerPoint</Application>
  <PresentationFormat>On-screen Show (16:9)</PresentationFormat>
  <Paragraphs>216</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FindBack</vt:lpstr>
      <vt:lpstr>FindBack</vt:lpstr>
      <vt:lpstr>Agenda</vt:lpstr>
      <vt:lpstr>The problem</vt:lpstr>
      <vt:lpstr>Our solution</vt:lpstr>
      <vt:lpstr>Tech stack</vt:lpstr>
      <vt:lpstr>Architecture</vt:lpstr>
      <vt:lpstr>Core features</vt:lpstr>
      <vt:lpstr>More features</vt:lpstr>
      <vt:lpstr>AI matching pipeline</vt:lpstr>
      <vt:lpstr>Claims flow</vt:lpstr>
      <vt:lpstr>Challenges and solutions</vt:lpstr>
      <vt:lpstr>Lessons learned</vt:lpstr>
      <vt:lpstr>Demo and screenshots</vt:lpstr>
      <vt:lpstr>What's next</vt:lpstr>
      <vt:lpstr>Thank you</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FindBack: AI-Powered Lost &amp; Found</dc:title>
  <dc:subject>PptxGenJS Presentation</dc:subject>
  <dc:creator>PptxGenJS</dc:creator>
  <cp:lastModifiedBy>Lucky</cp:lastModifiedBy>
  <cp:revision>2</cp:revision>
  <dcterms:created xsi:type="dcterms:W3CDTF">2026-10-27T07:25:14Z</dcterms:created>
  <dcterms:modified xsi:type="dcterms:W3CDTF">2026-10-29T09:01:26Z</dcterms:modified>
</cp:coreProperties>
</file>